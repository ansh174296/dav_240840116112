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1.xml" ContentType="application/vnd.openxmlformats-officedocument.presentationml.slide+xml"/>
  <Override PartName="/ppt/slides/slide12.xml" ContentType="application/vnd.openxmlformats-officedocument.presentationml.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6" r:id="rId17"/>
    <p:sldId id="267" r:id="rId18"/>
    <p:sldId id="262" r:id="rId8"/>
    <p:sldId id="263" r:id="rId9"/>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420243f-9812-cba9-89e4-1d0b9843f5e7}">
          <p14:sldIdLst>
            <p14:sldId id="256"/>
          </p14:sldIdLst>
        </p14:section>
        <p14:section name="Data" id="{e3372029-b710-a236-6bfb-1efd24f8406c}">
          <p14:sldIdLst>
            <p14:sldId id="257"/>
            <p14:sldId id="258"/>
            <p14:sldId id="259"/>
          </p14:sldIdLst>
        </p14:section>
        <p14:section name="Dashboard" id="{943a0df8-4c13-ee5e-eec4-14d09cecff93}">
          <p14:sldIdLst>
            <p14:sldId id="260"/>
            <p14:sldId id="261"/>
          </p14:sldIdLst>
        </p14:section>
        <p14:section name="Insights" id="{dd0469cc-2136-da08-8344-7413f7e99b92}">
          <p14:sldIdLst>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8" Type="http://schemas.openxmlformats.org/officeDocument/2006/relationships/slide" Target="slides/slide7.xml"/><Relationship Id="rId9" Type="http://schemas.openxmlformats.org/officeDocument/2006/relationships/slide" Target="slides/slide8.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  <Relationship Id="rId17" Type="http://schemas.openxmlformats.org/officeDocument/2006/relationships/slide" Target="slides/slide11.xml"/>
  <Relationship Id="rId18" Type="http://schemas.openxmlformats.org/officeDocument/2006/relationships/slide" Target="slides/slide12.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 are presenting our Data Analysis and Visualization project for InsightVista 2026.</a:t>
            </a:r>
          </a:p>
          <a:p>
            <a:r>
              <a:rPr lang="en-US" dirty="0"/>
              <a:t>Our project is based on the SuperStore dataset, and we studied its sales and profit. Our team's enrollment numbers are shown at the bottom of the slide.</a:t>
            </a:r>
          </a:p>
          <a:p>
            <a:r>
              <a:rPr lang="en-US" dirty="0"/>
              <a:t>In the next few minutes we will show you four things: how we checked the raw data, how we cleaned it, the Power BI dashboard we built, and the business recommendations that came out of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audit of the raw data.</a:t>
            </a:r>
          </a:p>
          <a:p>
            <a:r>
              <a:rPr lang="en-US" dirty="0"/>
              <a:t>The raw file has 9,994 records and 21 columns. It covers orders from 2014 to 2017 and 793 unique customers.</a:t>
            </a:r>
          </a:p>
          <a:p>
            <a:r>
              <a:rPr lang="en-US" dirty="0"/>
              <a:t>When we checked it, we found five problems.</a:t>
            </a:r>
          </a:p>
          <a:p>
            <a:r>
              <a:rPr lang="en-US" dirty="0"/>
              <a:t>First, one order line was repeated exactly, so the row count was inflated.</a:t>
            </a:r>
          </a:p>
          <a:p>
            <a:r>
              <a:rPr lang="en-US" dirty="0"/>
              <a:t>Second, 11 rows for Burlington, Vermont had a blank postal code.</a:t>
            </a:r>
          </a:p>
          <a:p>
            <a:r>
              <a:rPr lang="en-US" dirty="0"/>
              <a:t>Third, Order Date and Ship Date were stored as text, so the software did not recognise them as dates.</a:t>
            </a:r>
          </a:p>
          <a:p>
            <a:r>
              <a:rPr lang="en-US" dirty="0"/>
              <a:t>Fourth, Postal Code was stored as a number, so it lost its leading zero. 05408 became 5408.</a:t>
            </a:r>
          </a:p>
          <a:p>
            <a:r>
              <a:rPr lang="en-US" dirty="0"/>
              <a:t>Fifth, the rows were not arranged in a consistent order.</a:t>
            </a:r>
          </a:p>
          <a:p>
            <a:r>
              <a:rPr lang="en-US" dirty="0"/>
              <a:t>We also checked what was fine. There were no nulls in Sales, Profit, Quantity or Discount. Ship Date is never earlier than Order Date. And the extreme values are genuine, so we kept them.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see how we cleaned the data. We used Google Colab with Python pandas, in seven steps.</a:t>
            </a:r>
          </a:p>
          <a:p>
            <a:r>
              <a:rPr lang="en-US" dirty="0"/>
              <a:t>Step 1, load the data with pd.read_csv. This imports the CSV into a pandas DataFrame.</a:t>
            </a:r>
          </a:p>
          <a:p>
            <a:r>
              <a:rPr lang="en-US" dirty="0"/>
              <a:t>Step 2, inspect with info and isnull. We checked the shape, data types, nulls and summary statistics.</a:t>
            </a:r>
          </a:p>
          <a:p>
            <a:r>
              <a:rPr lang="en-US" dirty="0"/>
              <a:t>Step 3, remove duplicates with drop_duplicates. This dropped the repeated order line.</a:t>
            </a:r>
          </a:p>
          <a:p>
            <a:r>
              <a:rPr lang="en-US" dirty="0"/>
              <a:t>Step 4, fix the Postal Code with fillna. We filled the blank Burlington, Vermont codes with 5408.</a:t>
            </a:r>
          </a:p>
          <a:p>
            <a:r>
              <a:rPr lang="en-US" dirty="0"/>
              <a:t>Step 5, convert dates with pd.to_datetime. Order Date and Ship Date are now real date types.</a:t>
            </a:r>
          </a:p>
          <a:p>
            <a:r>
              <a:rPr lang="en-US" dirty="0"/>
              <a:t>Step 6, sort_values. We arranged the rows by Row ID and reset the index.</a:t>
            </a:r>
          </a:p>
          <a:p>
            <a:r>
              <a:rPr lang="en-US" dirty="0"/>
              <a:t>Step 7, to_csv. We saved the result as Superstore_Cleaned.csv for Power BI.</a:t>
            </a:r>
          </a:p>
          <a:p>
            <a:r>
              <a:rPr lang="en-US" dirty="0"/>
              <a:t>The result is in the dark box: rows went from 9,994 to 9,993, with zero null values and proper date types.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final clean dataset.</a:t>
            </a:r>
          </a:p>
          <a:p>
            <a:r>
              <a:rPr lang="en-US" dirty="0"/>
              <a:t>It has 9,993 clean records, 21 columns and zero null values. Total sales from 2014 to 2017 are $2.3 million.</a:t>
            </a:r>
          </a:p>
          <a:p>
            <a:r>
              <a:rPr lang="en-US" dirty="0"/>
              <a:t>On the left is what was done: the duplicate line was removed, the postal codes were completed, dates were converted to date type, rows were ordered by Row ID, and the file was exported as Superstore_Cleaned.csv.</a:t>
            </a:r>
          </a:p>
          <a:p>
            <a:r>
              <a:rPr lang="en-US" dirty="0"/>
              <a:t>On the right is a simple before and after comparison. Rows went from 9,994 to 9,993. Missing postal codes went from 11 to 0. Dates went from text to date type. And the rows went from unordered to ordered by Row ID.</a:t>
            </a:r>
          </a:p>
          <a:p>
            <a:r>
              <a:rPr lang="en-US" dirty="0"/>
              <a:t>This clean file is what we loaded into Power BI.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move to the Power BI dashboard. It has three pages. The three buttons at the top right of the slide move between them, just like the page buttons in the report.</a:t>
            </a:r>
          </a:p>
          <a:p>
            <a:r>
              <a:rPr lang="en-US" dirty="0"/>
              <a:t>This first page is the Executive Overview.</a:t>
            </a:r>
          </a:p>
          <a:p>
            <a:r>
              <a:rPr lang="en-US" dirty="0"/>
              <a:t>At the top are five KPI cards. Total sales are $2.3 million, up 20.4 percent versus 2016. Total profit is $286.4K, up 14.2 percent. Profit margin is 12.5 percent, down 0.7 points. Total orders are 5,009, up 28.3 percent. Customers are 793, up 8.6 percent.</a:t>
            </a:r>
          </a:p>
          <a:p>
            <a:r>
              <a:rPr lang="en-US" dirty="0"/>
              <a:t>The Year, Region, Category and Segment slicers filter every visual on the page.</a:t>
            </a:r>
          </a:p>
          <a:p>
            <a:r>
              <a:rPr lang="en-US" dirty="0"/>
              <a:t>Below the cards are the monthly sales and profit trend, sales by category, sales and profit by region, sales by segment, and profit by sub-category.</a:t>
            </a:r>
          </a:p>
          <a:p>
            <a:r>
              <a:rPr lang="en-US" dirty="0"/>
              <a:t>Technology is 36.4 percent of sales, Furniture 32.29 percent and Office Supplies 31.3 percent. The Consumer segment is 50.56 percent of sales. West is the biggest region by sales, then East, Central and South. Copiers lead sub-category profit at $56K.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what the data tells us. There are three insights.</a:t>
            </a:r>
          </a:p>
          <a:p>
            <a:r>
              <a:rPr lang="en-US" dirty="0"/>
              <a:t>The first is growth. In 2017, sales grew 20.4 percent against 2016 and orders rose 28.3 percent. Profit grew 14.2 percent, which is slower than sales, so the margin slipped 0.7 points. Also, 51.6 percent of all sales land in September to December. Year-end is the peak, and January and February are the slowest months.</a:t>
            </a:r>
          </a:p>
          <a:p>
            <a:r>
              <a:rPr lang="en-US" dirty="0"/>
              <a:t>The second is discounts. A line with no discount earns $66.9 profit on average. A line with more than 20 percent off loses $97.2 on average. Discounts above 20 percent are 13.9 percent of lines, and they lost $135K in total.</a:t>
            </a:r>
          </a:p>
          <a:p>
            <a:r>
              <a:rPr lang="en-US" dirty="0"/>
              <a:t>The third is where the losses sit. Tables, Bookcases and Supplies all lose money. Texas, Ohio, Pennsylvania and Illinois lose $71K combined. And Copiers and Phones lead the profit.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these insights, we have six recommendations.</a:t>
            </a:r>
          </a:p>
          <a:p>
            <a:r>
              <a:rPr lang="en-US" dirty="0"/>
              <a:t>One: cap discounts at 20 percent. Lines discounted above 20 percent lose $97 each on average and $135K in total. We suggest requiring approval for any deal beyond 20 percent.</a:t>
            </a:r>
          </a:p>
          <a:p>
            <a:r>
              <a:rPr lang="en-US" dirty="0"/>
              <a:t>Two: fix Tables and Bookcases. Tables lose $18K and Bookcases lose $4K. We can renegotiate supplier cost, raise prices or trim the range.</a:t>
            </a:r>
          </a:p>
          <a:p>
            <a:r>
              <a:rPr lang="en-US" dirty="0"/>
              <a:t>Three: turn around four states. Texas, Ohio, Pennsylvania and Illinois lose $71K together. We should review local discounts and delivery cost first.</a:t>
            </a:r>
          </a:p>
          <a:p>
            <a:r>
              <a:rPr lang="en-US" dirty="0"/>
              <a:t>Four: lift the Central region. Its margin is 7.9 percent, while the West is at 14.9 percent. We should apply West pricing and discount rules in Central.</a:t>
            </a:r>
          </a:p>
          <a:p>
            <a:r>
              <a:rPr lang="en-US" dirty="0"/>
              <a:t>Five: prepare for September to December. Over half of sales, 51.6 percent, land in these four months. We should plan stock and staff early, and lift slow January and February with small offers.</a:t>
            </a:r>
          </a:p>
          <a:p>
            <a:r>
              <a:rPr lang="en-US" dirty="0"/>
              <a:t>Six: back the winners. Copiers lead profit at $56K, followed by Phones at $45K and Accessories at $42K. We should bundle and cross-sell them.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here are our key takeaways and next steps.</a:t>
            </a:r>
          </a:p>
          <a:p>
            <a:r>
              <a:rPr lang="en-US" dirty="0"/>
              <a:t>On the left is what the data shows. 94 percent of profit comes from Technology and Office Supplies. Furniture has only a 2.5 percent profit margin, against 17 percent in the other two. 70 percent of profit is earned by the West and East regions. And the Central region has a 7.9 percent margin, the lowest of the four.</a:t>
            </a:r>
          </a:p>
          <a:p>
            <a:r>
              <a:rPr lang="en-US" dirty="0"/>
              <a:t>On the right is what we recommend. One, cap discounts at 20 percent, because anything higher turns an average sale into a loss. Two, reprice Tables and Bookcases to stop the Furniture leak. Three, fix the weak states, and audit Texas, Ohio, Pennsylvania and Illinois first. Four, plan for September to December and build stock and staffing for the year-end peak.</a:t>
            </a:r>
          </a:p>
          <a:p>
            <a:r>
              <a:rPr lang="en-US" dirty="0"/>
              <a:t>Thank you very much. We are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second dashboard page, Product Analysis.</a:t>
            </a:r>
          </a:p>
          <a:p>
            <a:r>
              <a:rPr lang="en-US" dirty="0"/>
              <a:t>The KPI cards show 37,871 units sold, up 26.8 percent, and an average discount of 15.6 percent. Sales, profit and margin are the same as on the first page.</a:t>
            </a:r>
          </a:p>
          <a:p>
            <a:r>
              <a:rPr lang="en-US" dirty="0"/>
              <a:t>The page has a bubble chart of sales versus profit by sub-category, where the bubble size is units sold. It also has a sub-category performance table, profit by discount level, and sales by sub-category.</a:t>
            </a:r>
          </a:p>
          <a:p>
            <a:r>
              <a:rPr lang="en-US" dirty="0"/>
              <a:t>We have three observations.</a:t>
            </a:r>
          </a:p>
          <a:p>
            <a:r>
              <a:rPr lang="en-US" dirty="0"/>
              <a:t>One: 37,871 units were sold at a 15.6 percent average discount.</a:t>
            </a:r>
          </a:p>
          <a:p>
            <a:r>
              <a:rPr lang="en-US" dirty="0"/>
              <a:t>Two: Phones and Chairs lead sales at $0.33 million each.</a:t>
            </a:r>
          </a:p>
          <a:p>
            <a:r>
              <a:rPr lang="en-US" dirty="0"/>
              <a:t>Three: profit turns negative once discounts pass 20 percent. In the profit by discount level chart, 0 percent discount earns $0.32 million and 1 to 20 percent earns $0.10 million. After that every band is negative: minus $0.04 million, minus $0.03 million and minus $0.07 million.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third dashboard page, Customers and Shipping.</a:t>
            </a:r>
          </a:p>
          <a:p>
            <a:r>
              <a:rPr lang="en-US" dirty="0"/>
              <a:t>The KPI cards show 793 customers, up 8.6 percent, and 5,009 orders, up 28.3 percent. Average order value is $458.6, which is down 6.2 percent. Average ship time is 4.0 days. Sales per customer are $2,896, up 10.8 percent.</a:t>
            </a:r>
          </a:p>
          <a:p>
            <a:r>
              <a:rPr lang="en-US" dirty="0"/>
              <a:t>The visuals are sales by state, orders by ship mode, and top customers by sales.</a:t>
            </a:r>
          </a:p>
          <a:p>
            <a:r>
              <a:rPr lang="en-US" dirty="0"/>
              <a:t>We have three observations.</a:t>
            </a:r>
          </a:p>
          <a:p>
            <a:r>
              <a:rPr lang="en-US" dirty="0"/>
              <a:t>One: average order value is $458.6 and each customer brings $2,896 in sales.</a:t>
            </a:r>
          </a:p>
          <a:p>
            <a:r>
              <a:rPr lang="en-US" dirty="0"/>
              <a:t>Two: California leads state sales with $0.46 million and New York is second with $0.31 million.</a:t>
            </a:r>
          </a:p>
          <a:p>
            <a:r>
              <a:rPr lang="en-US" dirty="0"/>
              <a:t>Three: Standard Class carries 59.77 percent of orders, and the average ship time is 4.0 days. The other ship modes are Second Class at 19.25 percent, First Class at 15.71 percent and Same Day at 5.27 percent.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bg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chemeClr val="accent6"/>
                </a:solidFill>
              </a:rPr>
              <a:t>SuperStore</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 Target="slide11.xml"/><Relationship Id="rId3" Type="http://schemas.openxmlformats.org/officeDocument/2006/relationships/slide" Target="slide12.xml"/><Relationship Id="rId4" Type="http://schemas.openxmlformats.org/officeDocument/2006/relationships/image" Target="../media/image-5-1.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 Target="slide11.xml"/><Relationship Id="rId3" Type="http://schemas.openxmlformats.org/officeDocument/2006/relationships/slide" Target="slide12.xml"/><Relationship Id="rId4" Type="http://schemas.openxmlformats.org/officeDocument/2006/relationships/image" Target="../media/image-6-2.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 Target="slide11.xml"/><Relationship Id="rId3" Type="http://schemas.openxmlformats.org/officeDocument/2006/relationships/slide" Target="slide12.xml"/><Relationship Id="rId4" Type="http://schemas.openxmlformats.org/officeDocument/2006/relationships/image" Target="../media/image-6-3.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ircle large"/>
          <p:cNvSpPr/>
          <p:nvPr/>
        </p:nvSpPr>
        <p:spPr>
          <a:xfrm>
            <a:off x="7589520" y="-1097280"/>
            <a:ext cx="6035040" cy="6035040"/>
          </a:xfrm>
          <a:prstGeom prst="ellipse">
            <a:avLst/>
          </a:prstGeom>
          <a:solidFill>
            <a:schemeClr val="accent5"/>
          </a:solidFill>
          <a:ln/>
        </p:spPr>
      </p:sp>
      <p:sp>
        <p:nvSpPr>
          <p:cNvPr id="3" name="Circle amber"/>
          <p:cNvSpPr/>
          <p:nvPr/>
        </p:nvSpPr>
        <p:spPr>
          <a:xfrm>
            <a:off x="6949440" y="2148840"/>
            <a:ext cx="2011680" cy="2011680"/>
          </a:xfrm>
          <a:prstGeom prst="ellipse">
            <a:avLst/>
          </a:prstGeom>
          <a:solidFill>
            <a:schemeClr val="accent2">
              <a:alpha val="75000"/>
            </a:schemeClr>
          </a:solidFill>
          <a:ln/>
        </p:spPr>
      </p:sp>
      <p:sp>
        <p:nvSpPr>
          <p:cNvPr id="4" name="Circle teal"/>
          <p:cNvSpPr/>
          <p:nvPr/>
        </p:nvSpPr>
        <p:spPr>
          <a:xfrm>
            <a:off x="9281160" y="1234440"/>
            <a:ext cx="1737360" cy="1737360"/>
          </a:xfrm>
          <a:prstGeom prst="ellipse">
            <a:avLst/>
          </a:prstGeom>
          <a:solidFill>
            <a:schemeClr val="accent1"/>
          </a:solidFill>
          <a:ln/>
        </p:spPr>
      </p:sp>
      <p:pic>
        <p:nvPicPr>
          <p:cNvPr id="5" name="Image 0" descr="Shopping bag icon">    </p:cNvPr>
          <p:cNvPicPr>
            <a:picLocks noChangeAspect="1"/>
          </p:cNvPicPr>
          <p:nvPr/>
        </p:nvPicPr>
        <p:blipFill>
          <a:blip r:embed="rId1"/>
          <a:stretch>
            <a:fillRect/>
          </a:stretch>
        </p:blipFill>
        <p:spPr>
          <a:xfrm>
            <a:off x="9784080" y="1737360"/>
            <a:ext cx="731520" cy="731520"/>
          </a:xfrm>
          <a:prstGeom prst="rect">
            <a:avLst/>
          </a:prstGeom>
        </p:spPr>
      </p:pic>
      <p:sp>
        <p:nvSpPr>
          <p:cNvPr id="6" name="Event line"/>
          <p:cNvSpPr txBox="1"/>
          <p:nvPr/>
        </p:nvSpPr>
        <p:spPr>
          <a:xfrm>
            <a:off x="685800" y="914400"/>
            <a:ext cx="6400800"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DATA ANALYSIS &amp; VISUALIZATION</a:t>
            </a:r>
            <a:endParaRPr lang="en-US" sz="1300" dirty="0"/>
          </a:p>
        </p:txBody>
      </p:sp>
      <p:sp>
        <p:nvSpPr>
          <p:cNvPr id="7" name="Competition name"/>
          <p:cNvSpPr txBox="1"/>
          <p:nvPr/>
        </p:nvSpPr>
        <p:spPr>
          <a:xfrm>
            <a:off x="685800" y="1261872"/>
            <a:ext cx="6400800" cy="50292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INSIGHTVISTA 2026</a:t>
            </a:r>
            <a:endParaRPr lang="en-US" sz="2800" dirty="0"/>
          </a:p>
        </p:txBody>
      </p:sp>
      <p:sp>
        <p:nvSpPr>
          <p:cNvPr id="8" name="Deck title"/>
          <p:cNvSpPr txBox="1"/>
          <p:nvPr/>
        </p:nvSpPr>
        <p:spPr>
          <a:xfrm>
            <a:off x="685800" y="1874520"/>
            <a:ext cx="6766560" cy="1463040"/>
          </a:xfrm>
          <a:prstGeom prst="rect">
            <a:avLst/>
          </a:prstGeom>
          <a:noFill/>
          <a:ln/>
        </p:spPr>
        <p:txBody>
          <a:bodyPr wrap="square" lIns="0" tIns="0" rIns="0" bIns="0" rtlCol="0" anchor="ctr"/>
          <a:lstStyle/>
          <a:p>
            <a:pPr indent="0" marL="0">
              <a:buNone/>
            </a:pPr>
            <a:r>
              <a:rPr lang="en-US" sz="7200" b="1" dirty="0">
                <a:solidFill>
                  <a:schemeClr val="tx1"/>
                </a:solidFill>
                <a:latin typeface="Cambria" pitchFamily="34" charset="0"/>
                <a:ea typeface="Cambria" pitchFamily="34" charset="-122"/>
                <a:cs typeface="Cambria" pitchFamily="34" charset="-120"/>
              </a:rPr>
              <a:t>SuperStore</a:t>
            </a:r>
            <a:endParaRPr lang="en-US" sz="7200" dirty="0"/>
          </a:p>
        </p:txBody>
      </p:sp>
      <p:sp>
        <p:nvSpPr>
          <p:cNvPr id="9" name="Enrollment label"/>
          <p:cNvSpPr txBox="1"/>
          <p:nvPr/>
        </p:nvSpPr>
        <p:spPr>
          <a:xfrm>
            <a:off x="685800" y="4160520"/>
            <a:ext cx="54864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ENROLLMENT NUMBERS</a:t>
            </a:r>
            <a:endParaRPr lang="en-US" sz="1200" dirty="0"/>
          </a:p>
        </p:txBody>
      </p:sp>
      <p:sp>
        <p:nvSpPr>
          <p:cNvPr id="10" name="Enrollment chip 1"/>
          <p:cNvSpPr/>
          <p:nvPr/>
        </p:nvSpPr>
        <p:spPr>
          <a:xfrm>
            <a:off x="685800" y="4572000"/>
            <a:ext cx="2011680" cy="640080"/>
          </a:xfrm>
          <a:prstGeom prst="roundRect">
            <a:avLst>
              <a:gd name="adj" fmla="val 14286"/>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11" name="Enrollment 1"/>
          <p:cNvSpPr txBox="1"/>
          <p:nvPr/>
        </p:nvSpPr>
        <p:spPr>
          <a:xfrm>
            <a:off x="685800" y="4572000"/>
            <a:ext cx="2011680" cy="640080"/>
          </a:xfrm>
          <a:prstGeom prst="rect">
            <a:avLst/>
          </a:prstGeom>
          <a:noFill/>
          <a:ln/>
        </p:spPr>
        <p:txBody>
          <a:bodyPr wrap="square" lIns="0" tIns="0" rIns="0" bIns="0" rtlCol="0" anchor="ctr"/>
          <a:lstStyle/>
          <a:p>
            <a:pPr algn="ctr" indent="0" marL="0">
              <a:buNone/>
            </a:pPr>
            <a:r>
              <a:rPr lang="en-US" sz="1600" b="1" dirty="0">
                <a:solidFill>
                  <a:schemeClr val="tx1"/>
                </a:solidFill>
              </a:rPr>
              <a:t>240840116028</a:t>
            </a:r>
            <a:endParaRPr lang="en-US" sz="1600" dirty="0"/>
          </a:p>
        </p:txBody>
      </p:sp>
      <p:sp>
        <p:nvSpPr>
          <p:cNvPr id="12" name="Enrollment chip 2"/>
          <p:cNvSpPr/>
          <p:nvPr/>
        </p:nvSpPr>
        <p:spPr>
          <a:xfrm>
            <a:off x="2880360" y="4572000"/>
            <a:ext cx="2011680" cy="640080"/>
          </a:xfrm>
          <a:prstGeom prst="roundRect">
            <a:avLst>
              <a:gd name="adj" fmla="val 14286"/>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13" name="Enrollment 2"/>
          <p:cNvSpPr txBox="1"/>
          <p:nvPr/>
        </p:nvSpPr>
        <p:spPr>
          <a:xfrm>
            <a:off x="2880360" y="4572000"/>
            <a:ext cx="2011680" cy="640080"/>
          </a:xfrm>
          <a:prstGeom prst="rect">
            <a:avLst/>
          </a:prstGeom>
          <a:noFill/>
          <a:ln/>
        </p:spPr>
        <p:txBody>
          <a:bodyPr wrap="square" lIns="0" tIns="0" rIns="0" bIns="0" rtlCol="0" anchor="ctr"/>
          <a:lstStyle/>
          <a:p>
            <a:pPr algn="ctr" indent="0" marL="0">
              <a:buNone/>
            </a:pPr>
            <a:r>
              <a:rPr lang="en-US" sz="1600" b="1" dirty="0">
                <a:solidFill>
                  <a:schemeClr val="tx1"/>
                </a:solidFill>
              </a:rPr>
              <a:t>240840116040</a:t>
            </a:r>
            <a:endParaRPr lang="en-US" sz="1600" dirty="0"/>
          </a:p>
        </p:txBody>
      </p:sp>
      <p:sp>
        <p:nvSpPr>
          <p:cNvPr id="14" name="Enrollment chip 3"/>
          <p:cNvSpPr/>
          <p:nvPr/>
        </p:nvSpPr>
        <p:spPr>
          <a:xfrm>
            <a:off x="5074920" y="4572000"/>
            <a:ext cx="2011680" cy="640080"/>
          </a:xfrm>
          <a:prstGeom prst="roundRect">
            <a:avLst>
              <a:gd name="adj" fmla="val 14286"/>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15" name="Enrollment 3"/>
          <p:cNvSpPr txBox="1"/>
          <p:nvPr/>
        </p:nvSpPr>
        <p:spPr>
          <a:xfrm>
            <a:off x="5074920" y="4572000"/>
            <a:ext cx="2011680" cy="640080"/>
          </a:xfrm>
          <a:prstGeom prst="rect">
            <a:avLst/>
          </a:prstGeom>
          <a:noFill/>
          <a:ln/>
        </p:spPr>
        <p:txBody>
          <a:bodyPr wrap="square" lIns="0" tIns="0" rIns="0" bIns="0" rtlCol="0" anchor="ctr"/>
          <a:lstStyle/>
          <a:p>
            <a:pPr algn="ctr" indent="0" marL="0">
              <a:buNone/>
            </a:pPr>
            <a:r>
              <a:rPr lang="en-US" sz="1600" b="1" dirty="0">
                <a:solidFill>
                  <a:schemeClr val="tx1"/>
                </a:solidFill>
              </a:rPr>
              <a:t>240840116112</a:t>
            </a:r>
            <a:endParaRPr lang="en-US" sz="1600" dirty="0"/>
          </a:p>
        </p:txBody>
      </p:sp>
      <p:sp>
        <p:nvSpPr>
          <p:cNvPr id="16" name="Enrollment chip 4"/>
          <p:cNvSpPr/>
          <p:nvPr/>
        </p:nvSpPr>
        <p:spPr>
          <a:xfrm>
            <a:off x="7269480" y="4572000"/>
            <a:ext cx="2011680" cy="640080"/>
          </a:xfrm>
          <a:prstGeom prst="roundRect">
            <a:avLst>
              <a:gd name="adj" fmla="val 14286"/>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17" name="Enrollment 4"/>
          <p:cNvSpPr txBox="1"/>
          <p:nvPr/>
        </p:nvSpPr>
        <p:spPr>
          <a:xfrm>
            <a:off x="7269480" y="4572000"/>
            <a:ext cx="2011680" cy="640080"/>
          </a:xfrm>
          <a:prstGeom prst="rect">
            <a:avLst/>
          </a:prstGeom>
          <a:noFill/>
          <a:ln/>
        </p:spPr>
        <p:txBody>
          <a:bodyPr wrap="square" lIns="0" tIns="0" rIns="0" bIns="0" rtlCol="0" anchor="ctr"/>
          <a:lstStyle/>
          <a:p>
            <a:pPr algn="ctr" indent="0" marL="0">
              <a:buNone/>
            </a:pPr>
            <a:r>
              <a:rPr lang="en-US" sz="1600" b="1" dirty="0">
                <a:solidFill>
                  <a:schemeClr val="tx1"/>
                </a:solidFill>
              </a:rPr>
              <a:t>240840116121</a:t>
            </a:r>
            <a:endParaRPr lang="en-US" sz="1600" dirty="0"/>
          </a:p>
        </p:txBody>
      </p:sp>
      <p:sp>
        <p:nvSpPr>
          <p:cNvPr id="18" name="Enrollment chip 5"/>
          <p:cNvSpPr/>
          <p:nvPr/>
        </p:nvSpPr>
        <p:spPr>
          <a:xfrm>
            <a:off x="9464040" y="4572000"/>
            <a:ext cx="2011680" cy="640080"/>
          </a:xfrm>
          <a:prstGeom prst="roundRect">
            <a:avLst>
              <a:gd name="adj" fmla="val 14286"/>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19" name="Enrollment 5"/>
          <p:cNvSpPr txBox="1"/>
          <p:nvPr/>
        </p:nvSpPr>
        <p:spPr>
          <a:xfrm>
            <a:off x="9464040" y="4572000"/>
            <a:ext cx="2011680" cy="640080"/>
          </a:xfrm>
          <a:prstGeom prst="rect">
            <a:avLst/>
          </a:prstGeom>
          <a:noFill/>
          <a:ln/>
        </p:spPr>
        <p:txBody>
          <a:bodyPr wrap="square" lIns="0" tIns="0" rIns="0" bIns="0" rtlCol="0" anchor="ctr"/>
          <a:lstStyle/>
          <a:p>
            <a:pPr algn="ctr" indent="0" marL="0">
              <a:buNone/>
            </a:pPr>
            <a:r>
              <a:rPr lang="en-US" sz="1600" b="1" dirty="0">
                <a:solidFill>
                  <a:schemeClr val="tx1"/>
                </a:solidFill>
              </a:rPr>
              <a:t>240840116126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100" b="1" spc="300" kern="0" dirty="0">
                <a:solidFill>
                  <a:schemeClr val="accent1"/>
                </a:solidFill>
              </a:rPr>
              <a:t>01  ·  DATA AUDIT</a:t>
            </a:r>
            <a:endParaRPr lang="en-US" sz="1100" dirty="0"/>
          </a:p>
        </p:txBody>
      </p:sp>
      <p:sp>
        <p:nvSpPr>
          <p:cNvPr id="3"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Raw dataset observations</a:t>
            </a:r>
            <a:endParaRPr lang="en-US" sz="3400" dirty="0"/>
          </a:p>
        </p:txBody>
      </p:sp>
      <p:sp>
        <p:nvSpPr>
          <p:cNvPr id="4" name="Stat records card"/>
          <p:cNvSpPr/>
          <p:nvPr/>
        </p:nvSpPr>
        <p:spPr>
          <a:xfrm>
            <a:off x="548640" y="1600200"/>
            <a:ext cx="2331720" cy="1188720"/>
          </a:xfrm>
          <a:prstGeom prst="roundRect">
            <a:avLst>
              <a:gd name="adj" fmla="val 7692"/>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5" name="Stat records value"/>
          <p:cNvSpPr txBox="1"/>
          <p:nvPr/>
        </p:nvSpPr>
        <p:spPr>
          <a:xfrm>
            <a:off x="731520" y="1709928"/>
            <a:ext cx="1965960" cy="653796"/>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9,994</a:t>
            </a:r>
            <a:endParaRPr lang="en-US" sz="3000" dirty="0"/>
          </a:p>
        </p:txBody>
      </p:sp>
      <p:sp>
        <p:nvSpPr>
          <p:cNvPr id="6" name="Stat records label"/>
          <p:cNvSpPr txBox="1"/>
          <p:nvPr/>
        </p:nvSpPr>
        <p:spPr>
          <a:xfrm>
            <a:off x="731520" y="2363724"/>
            <a:ext cx="1965960" cy="356616"/>
          </a:xfrm>
          <a:prstGeom prst="rect">
            <a:avLst/>
          </a:prstGeom>
          <a:noFill/>
          <a:ln/>
        </p:spPr>
        <p:txBody>
          <a:bodyPr wrap="square" lIns="0" tIns="0" rIns="0" bIns="0" rtlCol="0" anchor="t"/>
          <a:lstStyle/>
          <a:p>
            <a:pPr indent="0" marL="0">
              <a:buNone/>
            </a:pPr>
            <a:r>
              <a:rPr lang="en-US" sz="1300" dirty="0">
                <a:solidFill>
                  <a:schemeClr val="accent6"/>
                </a:solidFill>
              </a:rPr>
              <a:t>records in raw file</a:t>
            </a:r>
            <a:endParaRPr lang="en-US" sz="1300" dirty="0"/>
          </a:p>
        </p:txBody>
      </p:sp>
      <p:sp>
        <p:nvSpPr>
          <p:cNvPr id="7" name="Stat columns card"/>
          <p:cNvSpPr/>
          <p:nvPr/>
        </p:nvSpPr>
        <p:spPr>
          <a:xfrm>
            <a:off x="3063240" y="1600200"/>
            <a:ext cx="2331720" cy="1188720"/>
          </a:xfrm>
          <a:prstGeom prst="roundRect">
            <a:avLst>
              <a:gd name="adj" fmla="val 7692"/>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8" name="Stat columns value"/>
          <p:cNvSpPr txBox="1"/>
          <p:nvPr/>
        </p:nvSpPr>
        <p:spPr>
          <a:xfrm>
            <a:off x="3246120" y="1709928"/>
            <a:ext cx="1965960" cy="653796"/>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21</a:t>
            </a:r>
            <a:endParaRPr lang="en-US" sz="3000" dirty="0"/>
          </a:p>
        </p:txBody>
      </p:sp>
      <p:sp>
        <p:nvSpPr>
          <p:cNvPr id="9" name="Stat columns label"/>
          <p:cNvSpPr txBox="1"/>
          <p:nvPr/>
        </p:nvSpPr>
        <p:spPr>
          <a:xfrm>
            <a:off x="3246120" y="2363724"/>
            <a:ext cx="1965960" cy="356616"/>
          </a:xfrm>
          <a:prstGeom prst="rect">
            <a:avLst/>
          </a:prstGeom>
          <a:noFill/>
          <a:ln/>
        </p:spPr>
        <p:txBody>
          <a:bodyPr wrap="square" lIns="0" tIns="0" rIns="0" bIns="0" rtlCol="0" anchor="t"/>
          <a:lstStyle/>
          <a:p>
            <a:pPr indent="0" marL="0">
              <a:buNone/>
            </a:pPr>
            <a:r>
              <a:rPr lang="en-US" sz="1300" dirty="0">
                <a:solidFill>
                  <a:schemeClr val="accent6"/>
                </a:solidFill>
              </a:rPr>
              <a:t>columns / fields</a:t>
            </a:r>
            <a:endParaRPr lang="en-US" sz="1300" dirty="0"/>
          </a:p>
        </p:txBody>
      </p:sp>
      <p:sp>
        <p:nvSpPr>
          <p:cNvPr id="10" name="Stat years card"/>
          <p:cNvSpPr/>
          <p:nvPr/>
        </p:nvSpPr>
        <p:spPr>
          <a:xfrm>
            <a:off x="548640" y="2971800"/>
            <a:ext cx="2331720" cy="1188720"/>
          </a:xfrm>
          <a:prstGeom prst="roundRect">
            <a:avLst>
              <a:gd name="adj" fmla="val 7692"/>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11" name="Stat years value"/>
          <p:cNvSpPr txBox="1"/>
          <p:nvPr/>
        </p:nvSpPr>
        <p:spPr>
          <a:xfrm>
            <a:off x="731520" y="3081528"/>
            <a:ext cx="1965960" cy="653796"/>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2014–17</a:t>
            </a:r>
            <a:endParaRPr lang="en-US" sz="3000" dirty="0"/>
          </a:p>
        </p:txBody>
      </p:sp>
      <p:sp>
        <p:nvSpPr>
          <p:cNvPr id="12" name="Stat years label"/>
          <p:cNvSpPr txBox="1"/>
          <p:nvPr/>
        </p:nvSpPr>
        <p:spPr>
          <a:xfrm>
            <a:off x="731520" y="3735324"/>
            <a:ext cx="1965960" cy="356616"/>
          </a:xfrm>
          <a:prstGeom prst="rect">
            <a:avLst/>
          </a:prstGeom>
          <a:noFill/>
          <a:ln/>
        </p:spPr>
        <p:txBody>
          <a:bodyPr wrap="square" lIns="0" tIns="0" rIns="0" bIns="0" rtlCol="0" anchor="t"/>
          <a:lstStyle/>
          <a:p>
            <a:pPr indent="0" marL="0">
              <a:buNone/>
            </a:pPr>
            <a:r>
              <a:rPr lang="en-US" sz="1300" dirty="0">
                <a:solidFill>
                  <a:schemeClr val="accent6"/>
                </a:solidFill>
              </a:rPr>
              <a:t>order dates covered</a:t>
            </a:r>
            <a:endParaRPr lang="en-US" sz="1300" dirty="0"/>
          </a:p>
        </p:txBody>
      </p:sp>
      <p:sp>
        <p:nvSpPr>
          <p:cNvPr id="13" name="Stat customers card"/>
          <p:cNvSpPr/>
          <p:nvPr/>
        </p:nvSpPr>
        <p:spPr>
          <a:xfrm>
            <a:off x="3063240" y="2971800"/>
            <a:ext cx="2331720" cy="1188720"/>
          </a:xfrm>
          <a:prstGeom prst="roundRect">
            <a:avLst>
              <a:gd name="adj" fmla="val 7692"/>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14" name="Stat customers value"/>
          <p:cNvSpPr txBox="1"/>
          <p:nvPr/>
        </p:nvSpPr>
        <p:spPr>
          <a:xfrm>
            <a:off x="3246120" y="3081528"/>
            <a:ext cx="1965960" cy="653796"/>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793</a:t>
            </a:r>
            <a:endParaRPr lang="en-US" sz="3000" dirty="0"/>
          </a:p>
        </p:txBody>
      </p:sp>
      <p:sp>
        <p:nvSpPr>
          <p:cNvPr id="15" name="Stat customers label"/>
          <p:cNvSpPr txBox="1"/>
          <p:nvPr/>
        </p:nvSpPr>
        <p:spPr>
          <a:xfrm>
            <a:off x="3246120" y="3735324"/>
            <a:ext cx="1965960" cy="356616"/>
          </a:xfrm>
          <a:prstGeom prst="rect">
            <a:avLst/>
          </a:prstGeom>
          <a:noFill/>
          <a:ln/>
        </p:spPr>
        <p:txBody>
          <a:bodyPr wrap="square" lIns="0" tIns="0" rIns="0" bIns="0" rtlCol="0" anchor="t"/>
          <a:lstStyle/>
          <a:p>
            <a:pPr indent="0" marL="0">
              <a:buNone/>
            </a:pPr>
            <a:r>
              <a:rPr lang="en-US" sz="1300" dirty="0">
                <a:solidFill>
                  <a:schemeClr val="accent6"/>
                </a:solidFill>
              </a:rPr>
              <a:t>unique customers</a:t>
            </a:r>
            <a:endParaRPr lang="en-US" sz="1300" dirty="0"/>
          </a:p>
        </p:txBody>
      </p:sp>
      <p:sp>
        <p:nvSpPr>
          <p:cNvPr id="16" name="Verified card"/>
          <p:cNvSpPr/>
          <p:nvPr/>
        </p:nvSpPr>
        <p:spPr>
          <a:xfrm>
            <a:off x="548640" y="4343400"/>
            <a:ext cx="4846320" cy="1783080"/>
          </a:xfrm>
          <a:prstGeom prst="roundRect">
            <a:avLst>
              <a:gd name="adj" fmla="val 5128"/>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17" name="Verified heading"/>
          <p:cNvSpPr txBox="1"/>
          <p:nvPr/>
        </p:nvSpPr>
        <p:spPr>
          <a:xfrm>
            <a:off x="777240" y="4462272"/>
            <a:ext cx="4389120" cy="320040"/>
          </a:xfrm>
          <a:prstGeom prst="rect">
            <a:avLst/>
          </a:prstGeom>
          <a:noFill/>
          <a:ln/>
        </p:spPr>
        <p:txBody>
          <a:bodyPr wrap="square" lIns="0" tIns="0" rIns="0" bIns="0" rtlCol="0" anchor="ctr"/>
          <a:lstStyle/>
          <a:p>
            <a:pPr indent="0" marL="0">
              <a:buNone/>
            </a:pPr>
            <a:r>
              <a:rPr lang="en-US" sz="1500" b="1" dirty="0">
                <a:solidFill>
                  <a:schemeClr val="accent1"/>
                </a:solidFill>
              </a:rPr>
              <a:t>Checked and found fine</a:t>
            </a:r>
            <a:endParaRPr lang="en-US" sz="1500" dirty="0"/>
          </a:p>
        </p:txBody>
      </p:sp>
      <p:sp>
        <p:nvSpPr>
          <p:cNvPr id="18" name="Verified list"/>
          <p:cNvSpPr txBox="1"/>
          <p:nvPr/>
        </p:nvSpPr>
        <p:spPr>
          <a:xfrm>
            <a:off x="777240" y="4828032"/>
            <a:ext cx="4434840" cy="11887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No nulls in Sales, Profit, Quantity, Discount</a:t>
            </a:r>
            <a:endParaRPr lang="en-US" sz="1400" dirty="0"/>
          </a:p>
          <a:p>
            <a:pPr marL="342900" indent="-342900">
              <a:spcAft>
                <a:spcPts val="400"/>
              </a:spcAft>
              <a:buSzPct val="100000"/>
              <a:buChar char="•"/>
            </a:pPr>
            <a:r>
              <a:rPr lang="en-US" sz="1400" dirty="0">
                <a:solidFill>
                  <a:schemeClr val="tx1"/>
                </a:solidFill>
              </a:rPr>
              <a:t>Ship Date is never earlier than Order Date</a:t>
            </a:r>
            <a:endParaRPr lang="en-US" sz="1400" dirty="0"/>
          </a:p>
          <a:p>
            <a:pPr marL="342900" indent="-342900">
              <a:spcAft>
                <a:spcPts val="400"/>
              </a:spcAft>
              <a:buSzPct val="100000"/>
              <a:buChar char="•"/>
            </a:pPr>
            <a:r>
              <a:rPr lang="en-US" sz="1400" dirty="0">
                <a:solidFill>
                  <a:schemeClr val="tx1"/>
                </a:solidFill>
              </a:rPr>
              <a:t>Extreme values are genuine, so they were kept</a:t>
            </a:r>
            <a:endParaRPr lang="en-US" sz="1400" dirty="0"/>
          </a:p>
        </p:txBody>
      </p:sp>
      <p:sp>
        <p:nvSpPr>
          <p:cNvPr id="19" name="Issues card"/>
          <p:cNvSpPr/>
          <p:nvPr/>
        </p:nvSpPr>
        <p:spPr>
          <a:xfrm>
            <a:off x="5669280" y="1600200"/>
            <a:ext cx="5971032" cy="4526280"/>
          </a:xfrm>
          <a:prstGeom prst="roundRect">
            <a:avLst>
              <a:gd name="adj" fmla="val 2020"/>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20" name="Issues heading"/>
          <p:cNvSpPr txBox="1"/>
          <p:nvPr/>
        </p:nvSpPr>
        <p:spPr>
          <a:xfrm>
            <a:off x="5943600" y="1755648"/>
            <a:ext cx="5394960"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What we noticed</a:t>
            </a:r>
            <a:endParaRPr lang="en-US" sz="1800" dirty="0"/>
          </a:p>
        </p:txBody>
      </p:sp>
      <p:sp>
        <p:nvSpPr>
          <p:cNvPr id="21" name="Issue badge 1"/>
          <p:cNvSpPr/>
          <p:nvPr/>
        </p:nvSpPr>
        <p:spPr>
          <a:xfrm>
            <a:off x="5943600" y="2322576"/>
            <a:ext cx="384048" cy="384048"/>
          </a:xfrm>
          <a:prstGeom prst="ellipse">
            <a:avLst/>
          </a:prstGeom>
          <a:solidFill>
            <a:schemeClr val="accent5"/>
          </a:solidFill>
          <a:ln/>
        </p:spPr>
      </p:sp>
      <p:sp>
        <p:nvSpPr>
          <p:cNvPr id="22" name="Issue number 1"/>
          <p:cNvSpPr txBox="1"/>
          <p:nvPr/>
        </p:nvSpPr>
        <p:spPr>
          <a:xfrm>
            <a:off x="5943600" y="2322576"/>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1</a:t>
            </a:r>
            <a:endParaRPr lang="en-US" sz="1400" dirty="0"/>
          </a:p>
        </p:txBody>
      </p:sp>
      <p:sp>
        <p:nvSpPr>
          <p:cNvPr id="23" name="Issue text 1"/>
          <p:cNvSpPr txBox="1"/>
          <p:nvPr/>
        </p:nvSpPr>
        <p:spPr>
          <a:xfrm>
            <a:off x="6492240" y="2286000"/>
            <a:ext cx="4937760" cy="685800"/>
          </a:xfrm>
          <a:prstGeom prst="rect">
            <a:avLst/>
          </a:prstGeom>
          <a:noFill/>
          <a:ln/>
        </p:spPr>
        <p:txBody>
          <a:bodyPr wrap="square" lIns="0" tIns="0" rIns="0" bIns="0" rtlCol="0" anchor="t"/>
          <a:lstStyle/>
          <a:p>
            <a:pPr indent="0" marL="0">
              <a:buNone/>
            </a:pPr>
            <a:r>
              <a:rPr lang="en-US" sz="1500" b="1" dirty="0">
                <a:solidFill>
                  <a:schemeClr val="tx1"/>
                </a:solidFill>
              </a:rPr>
              <a:t>Duplicate record</a:t>
            </a:r>
            <a:endParaRPr lang="en-US" sz="1500" dirty="0"/>
          </a:p>
          <a:p>
            <a:pPr indent="0" marL="0">
              <a:buNone/>
            </a:pPr>
            <a:r>
              <a:rPr lang="en-US" sz="1400" dirty="0">
                <a:solidFill>
                  <a:schemeClr val="accent6"/>
                </a:solidFill>
              </a:rPr>
              <a:t>One order line was repeated exactly, inflating the row count.</a:t>
            </a:r>
            <a:endParaRPr lang="en-US" sz="1500" dirty="0"/>
          </a:p>
        </p:txBody>
      </p:sp>
      <p:sp>
        <p:nvSpPr>
          <p:cNvPr id="24" name="Issue badge 2"/>
          <p:cNvSpPr/>
          <p:nvPr/>
        </p:nvSpPr>
        <p:spPr>
          <a:xfrm>
            <a:off x="5943600" y="3081528"/>
            <a:ext cx="384048" cy="384048"/>
          </a:xfrm>
          <a:prstGeom prst="ellipse">
            <a:avLst/>
          </a:prstGeom>
          <a:solidFill>
            <a:schemeClr val="accent5"/>
          </a:solidFill>
          <a:ln/>
        </p:spPr>
      </p:sp>
      <p:sp>
        <p:nvSpPr>
          <p:cNvPr id="25" name="Issue number 2"/>
          <p:cNvSpPr txBox="1"/>
          <p:nvPr/>
        </p:nvSpPr>
        <p:spPr>
          <a:xfrm>
            <a:off x="5943600" y="3081528"/>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2</a:t>
            </a:r>
            <a:endParaRPr lang="en-US" sz="1400" dirty="0"/>
          </a:p>
        </p:txBody>
      </p:sp>
      <p:sp>
        <p:nvSpPr>
          <p:cNvPr id="26" name="Issue text 2"/>
          <p:cNvSpPr txBox="1"/>
          <p:nvPr/>
        </p:nvSpPr>
        <p:spPr>
          <a:xfrm>
            <a:off x="6492240" y="3044952"/>
            <a:ext cx="4937760" cy="685800"/>
          </a:xfrm>
          <a:prstGeom prst="rect">
            <a:avLst/>
          </a:prstGeom>
          <a:noFill/>
          <a:ln/>
        </p:spPr>
        <p:txBody>
          <a:bodyPr wrap="square" lIns="0" tIns="0" rIns="0" bIns="0" rtlCol="0" anchor="t"/>
          <a:lstStyle/>
          <a:p>
            <a:pPr indent="0" marL="0">
              <a:buNone/>
            </a:pPr>
            <a:r>
              <a:rPr lang="en-US" sz="1500" b="1" dirty="0">
                <a:solidFill>
                  <a:schemeClr val="tx1"/>
                </a:solidFill>
              </a:rPr>
              <a:t>Missing Postal Code</a:t>
            </a:r>
            <a:endParaRPr lang="en-US" sz="1500" dirty="0"/>
          </a:p>
          <a:p>
            <a:pPr indent="0" marL="0">
              <a:buNone/>
            </a:pPr>
            <a:r>
              <a:rPr lang="en-US" sz="1400" dirty="0">
                <a:solidFill>
                  <a:schemeClr val="accent6"/>
                </a:solidFill>
              </a:rPr>
              <a:t>11 rows for Burlington, Vermont had a blank postal code.</a:t>
            </a:r>
            <a:endParaRPr lang="en-US" sz="1500" dirty="0"/>
          </a:p>
        </p:txBody>
      </p:sp>
      <p:sp>
        <p:nvSpPr>
          <p:cNvPr id="27" name="Issue badge 3"/>
          <p:cNvSpPr/>
          <p:nvPr/>
        </p:nvSpPr>
        <p:spPr>
          <a:xfrm>
            <a:off x="5943600" y="3840480"/>
            <a:ext cx="384048" cy="384048"/>
          </a:xfrm>
          <a:prstGeom prst="ellipse">
            <a:avLst/>
          </a:prstGeom>
          <a:solidFill>
            <a:schemeClr val="accent5"/>
          </a:solidFill>
          <a:ln/>
        </p:spPr>
      </p:sp>
      <p:sp>
        <p:nvSpPr>
          <p:cNvPr id="28" name="Issue number 3"/>
          <p:cNvSpPr txBox="1"/>
          <p:nvPr/>
        </p:nvSpPr>
        <p:spPr>
          <a:xfrm>
            <a:off x="5943600" y="3840480"/>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3</a:t>
            </a:r>
            <a:endParaRPr lang="en-US" sz="1400" dirty="0"/>
          </a:p>
        </p:txBody>
      </p:sp>
      <p:sp>
        <p:nvSpPr>
          <p:cNvPr id="29" name="Issue text 3"/>
          <p:cNvSpPr txBox="1"/>
          <p:nvPr/>
        </p:nvSpPr>
        <p:spPr>
          <a:xfrm>
            <a:off x="6492240" y="3803904"/>
            <a:ext cx="4937760" cy="685800"/>
          </a:xfrm>
          <a:prstGeom prst="rect">
            <a:avLst/>
          </a:prstGeom>
          <a:noFill/>
          <a:ln/>
        </p:spPr>
        <p:txBody>
          <a:bodyPr wrap="square" lIns="0" tIns="0" rIns="0" bIns="0" rtlCol="0" anchor="t"/>
          <a:lstStyle/>
          <a:p>
            <a:pPr indent="0" marL="0">
              <a:buNone/>
            </a:pPr>
            <a:r>
              <a:rPr lang="en-US" sz="1500" b="1" dirty="0">
                <a:solidFill>
                  <a:schemeClr val="tx1"/>
                </a:solidFill>
              </a:rPr>
              <a:t>Dates stored as text</a:t>
            </a:r>
            <a:endParaRPr lang="en-US" sz="1500" dirty="0"/>
          </a:p>
          <a:p>
            <a:pPr indent="0" marL="0">
              <a:buNone/>
            </a:pPr>
            <a:r>
              <a:rPr lang="en-US" sz="1400" dirty="0">
                <a:solidFill>
                  <a:schemeClr val="accent6"/>
                </a:solidFill>
              </a:rPr>
              <a:t>Order Date and Ship Date were not recognised as dates.</a:t>
            </a:r>
            <a:endParaRPr lang="en-US" sz="1500" dirty="0"/>
          </a:p>
        </p:txBody>
      </p:sp>
      <p:sp>
        <p:nvSpPr>
          <p:cNvPr id="30" name="Issue badge 4"/>
          <p:cNvSpPr/>
          <p:nvPr/>
        </p:nvSpPr>
        <p:spPr>
          <a:xfrm>
            <a:off x="5943600" y="4599432"/>
            <a:ext cx="384048" cy="384048"/>
          </a:xfrm>
          <a:prstGeom prst="ellipse">
            <a:avLst/>
          </a:prstGeom>
          <a:solidFill>
            <a:schemeClr val="accent5"/>
          </a:solidFill>
          <a:ln/>
        </p:spPr>
      </p:sp>
      <p:sp>
        <p:nvSpPr>
          <p:cNvPr id="31" name="Issue number 4"/>
          <p:cNvSpPr txBox="1"/>
          <p:nvPr/>
        </p:nvSpPr>
        <p:spPr>
          <a:xfrm>
            <a:off x="5943600" y="4599432"/>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4</a:t>
            </a:r>
            <a:endParaRPr lang="en-US" sz="1400" dirty="0"/>
          </a:p>
        </p:txBody>
      </p:sp>
      <p:sp>
        <p:nvSpPr>
          <p:cNvPr id="32" name="Issue text 4"/>
          <p:cNvSpPr txBox="1"/>
          <p:nvPr/>
        </p:nvSpPr>
        <p:spPr>
          <a:xfrm>
            <a:off x="6492240" y="4562856"/>
            <a:ext cx="4937760" cy="685800"/>
          </a:xfrm>
          <a:prstGeom prst="rect">
            <a:avLst/>
          </a:prstGeom>
          <a:noFill/>
          <a:ln/>
        </p:spPr>
        <p:txBody>
          <a:bodyPr wrap="square" lIns="0" tIns="0" rIns="0" bIns="0" rtlCol="0" anchor="t"/>
          <a:lstStyle/>
          <a:p>
            <a:pPr indent="0" marL="0">
              <a:buNone/>
            </a:pPr>
            <a:r>
              <a:rPr lang="en-US" sz="1500" b="1" dirty="0">
                <a:solidFill>
                  <a:schemeClr val="tx1"/>
                </a:solidFill>
              </a:rPr>
              <a:t>Postal Code lost its zero</a:t>
            </a:r>
            <a:endParaRPr lang="en-US" sz="1500" dirty="0"/>
          </a:p>
          <a:p>
            <a:pPr indent="0" marL="0">
              <a:buNone/>
            </a:pPr>
            <a:r>
              <a:rPr lang="en-US" sz="1400" dirty="0">
                <a:solidFill>
                  <a:schemeClr val="accent6"/>
                </a:solidFill>
              </a:rPr>
              <a:t>Numeric format dropped leading zeros (05408 became 5408).</a:t>
            </a:r>
            <a:endParaRPr lang="en-US" sz="1500" dirty="0"/>
          </a:p>
        </p:txBody>
      </p:sp>
      <p:sp>
        <p:nvSpPr>
          <p:cNvPr id="33" name="Issue badge 5"/>
          <p:cNvSpPr/>
          <p:nvPr/>
        </p:nvSpPr>
        <p:spPr>
          <a:xfrm>
            <a:off x="5943600" y="5358384"/>
            <a:ext cx="384048" cy="384048"/>
          </a:xfrm>
          <a:prstGeom prst="ellipse">
            <a:avLst/>
          </a:prstGeom>
          <a:solidFill>
            <a:schemeClr val="accent5"/>
          </a:solidFill>
          <a:ln/>
        </p:spPr>
      </p:sp>
      <p:sp>
        <p:nvSpPr>
          <p:cNvPr id="34" name="Issue number 5"/>
          <p:cNvSpPr txBox="1"/>
          <p:nvPr/>
        </p:nvSpPr>
        <p:spPr>
          <a:xfrm>
            <a:off x="5943600" y="5358384"/>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5</a:t>
            </a:r>
            <a:endParaRPr lang="en-US" sz="1400" dirty="0"/>
          </a:p>
        </p:txBody>
      </p:sp>
      <p:sp>
        <p:nvSpPr>
          <p:cNvPr id="35" name="Issue text 5"/>
          <p:cNvSpPr txBox="1"/>
          <p:nvPr/>
        </p:nvSpPr>
        <p:spPr>
          <a:xfrm>
            <a:off x="6492240" y="5321808"/>
            <a:ext cx="4937760" cy="685800"/>
          </a:xfrm>
          <a:prstGeom prst="rect">
            <a:avLst/>
          </a:prstGeom>
          <a:noFill/>
          <a:ln/>
        </p:spPr>
        <p:txBody>
          <a:bodyPr wrap="square" lIns="0" tIns="0" rIns="0" bIns="0" rtlCol="0" anchor="t"/>
          <a:lstStyle/>
          <a:p>
            <a:pPr indent="0" marL="0">
              <a:buNone/>
            </a:pPr>
            <a:r>
              <a:rPr lang="en-US" sz="1500" b="1" dirty="0">
                <a:solidFill>
                  <a:schemeClr val="tx1"/>
                </a:solidFill>
              </a:rPr>
              <a:t>Unordered records</a:t>
            </a:r>
            <a:endParaRPr lang="en-US" sz="1500" dirty="0"/>
          </a:p>
          <a:p>
            <a:pPr indent="0" marL="0">
              <a:buNone/>
            </a:pPr>
            <a:r>
              <a:rPr lang="en-US" sz="1400" dirty="0">
                <a:solidFill>
                  <a:schemeClr val="accent6"/>
                </a:solidFill>
              </a:rPr>
              <a:t>Rows were not arranged in a consistent order.</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100" b="1" spc="300" kern="0" dirty="0">
                <a:solidFill>
                  <a:schemeClr val="accent1"/>
                </a:solidFill>
              </a:rPr>
              <a:t>02  ·  DATA CLEANING  ·  GOOGLE COLAB</a:t>
            </a:r>
            <a:endParaRPr lang="en-US" sz="1100" dirty="0"/>
          </a:p>
        </p:txBody>
      </p:sp>
      <p:sp>
        <p:nvSpPr>
          <p:cNvPr id="3"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How we cleaned the data</a:t>
            </a:r>
            <a:endParaRPr lang="en-US" sz="3400" dirty="0"/>
          </a:p>
        </p:txBody>
      </p:sp>
      <p:sp>
        <p:nvSpPr>
          <p:cNvPr id="4" name="Step card 1"/>
          <p:cNvSpPr/>
          <p:nvPr/>
        </p:nvSpPr>
        <p:spPr>
          <a:xfrm>
            <a:off x="548640" y="1600200"/>
            <a:ext cx="2606040" cy="2194560"/>
          </a:xfrm>
          <a:prstGeom prst="roundRect">
            <a:avLst>
              <a:gd name="adj" fmla="val 4167"/>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5" name="Step badge 1"/>
          <p:cNvSpPr/>
          <p:nvPr/>
        </p:nvSpPr>
        <p:spPr>
          <a:xfrm>
            <a:off x="749808" y="1801368"/>
            <a:ext cx="420624" cy="420624"/>
          </a:xfrm>
          <a:prstGeom prst="ellipse">
            <a:avLst/>
          </a:prstGeom>
          <a:solidFill>
            <a:schemeClr val="accent1"/>
          </a:solidFill>
          <a:ln/>
        </p:spPr>
      </p:sp>
      <p:sp>
        <p:nvSpPr>
          <p:cNvPr id="6" name="Step number 1"/>
          <p:cNvSpPr txBox="1"/>
          <p:nvPr/>
        </p:nvSpPr>
        <p:spPr>
          <a:xfrm>
            <a:off x="749808" y="1801368"/>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Step title 1"/>
          <p:cNvSpPr txBox="1"/>
          <p:nvPr/>
        </p:nvSpPr>
        <p:spPr>
          <a:xfrm>
            <a:off x="1298448" y="1801368"/>
            <a:ext cx="1691640" cy="420624"/>
          </a:xfrm>
          <a:prstGeom prst="rect">
            <a:avLst/>
          </a:prstGeom>
          <a:noFill/>
          <a:ln/>
        </p:spPr>
        <p:txBody>
          <a:bodyPr wrap="square" lIns="0" tIns="0" rIns="0" bIns="0" rtlCol="0" anchor="ctr"/>
          <a:lstStyle/>
          <a:p>
            <a:pPr indent="0" marL="0">
              <a:buNone/>
            </a:pPr>
            <a:r>
              <a:rPr lang="en-US" sz="1600" b="1" dirty="0">
                <a:solidFill>
                  <a:schemeClr val="tx1"/>
                </a:solidFill>
              </a:rPr>
              <a:t>Load the data</a:t>
            </a:r>
            <a:endParaRPr lang="en-US" sz="1600" dirty="0"/>
          </a:p>
        </p:txBody>
      </p:sp>
      <p:sp>
        <p:nvSpPr>
          <p:cNvPr id="8" name="Step text 1"/>
          <p:cNvSpPr txBox="1"/>
          <p:nvPr/>
        </p:nvSpPr>
        <p:spPr>
          <a:xfrm>
            <a:off x="749808" y="2377440"/>
            <a:ext cx="2203704" cy="731520"/>
          </a:xfrm>
          <a:prstGeom prst="rect">
            <a:avLst/>
          </a:prstGeom>
          <a:noFill/>
          <a:ln/>
        </p:spPr>
        <p:txBody>
          <a:bodyPr wrap="square" lIns="0" tIns="0" rIns="0" bIns="0" rtlCol="0" anchor="t"/>
          <a:lstStyle/>
          <a:p>
            <a:pPr indent="0" marL="0">
              <a:buNone/>
            </a:pPr>
            <a:r>
              <a:rPr lang="en-US" sz="1400" dirty="0">
                <a:solidFill>
                  <a:schemeClr val="tx1"/>
                </a:solidFill>
              </a:rPr>
              <a:t>Imported the CSV into a pandas DataFrame.</a:t>
            </a:r>
            <a:endParaRPr lang="en-US" sz="1400" dirty="0"/>
          </a:p>
        </p:txBody>
      </p:sp>
      <p:sp>
        <p:nvSpPr>
          <p:cNvPr id="9" name="Step code chip 1"/>
          <p:cNvSpPr/>
          <p:nvPr/>
        </p:nvSpPr>
        <p:spPr>
          <a:xfrm>
            <a:off x="749808" y="3227832"/>
            <a:ext cx="2203704" cy="365760"/>
          </a:xfrm>
          <a:prstGeom prst="roundRect">
            <a:avLst>
              <a:gd name="adj" fmla="val 15000"/>
            </a:avLst>
          </a:prstGeom>
          <a:solidFill>
            <a:schemeClr val="accent5"/>
          </a:solidFill>
          <a:ln/>
        </p:spPr>
      </p:sp>
      <p:sp>
        <p:nvSpPr>
          <p:cNvPr id="10" name="Step code 1"/>
          <p:cNvSpPr txBox="1"/>
          <p:nvPr/>
        </p:nvSpPr>
        <p:spPr>
          <a:xfrm>
            <a:off x="749808" y="3227832"/>
            <a:ext cx="2203704" cy="365760"/>
          </a:xfrm>
          <a:prstGeom prst="rect">
            <a:avLst/>
          </a:prstGeom>
          <a:noFill/>
          <a:ln/>
        </p:spPr>
        <p:txBody>
          <a:bodyPr wrap="square" lIns="0" tIns="0" rIns="0" bIns="0" rtlCol="0" anchor="ctr"/>
          <a:lstStyle/>
          <a:p>
            <a:pPr algn="ctr" indent="0" marL="0">
              <a:buNone/>
            </a:pPr>
            <a:r>
              <a:rPr lang="en-US" sz="1100" dirty="0">
                <a:solidFill>
                  <a:schemeClr val="accent1"/>
                </a:solidFill>
                <a:latin typeface="Courier New" pitchFamily="34" charset="0"/>
                <a:ea typeface="Courier New" pitchFamily="34" charset="-122"/>
                <a:cs typeface="Courier New" pitchFamily="34" charset="-120"/>
              </a:rPr>
              <a:t>pd.read_csv()</a:t>
            </a:r>
            <a:endParaRPr lang="en-US" sz="1100" dirty="0"/>
          </a:p>
        </p:txBody>
      </p:sp>
      <p:sp>
        <p:nvSpPr>
          <p:cNvPr id="11" name="Step card 2"/>
          <p:cNvSpPr/>
          <p:nvPr/>
        </p:nvSpPr>
        <p:spPr>
          <a:xfrm>
            <a:off x="3376879" y="1600200"/>
            <a:ext cx="2606040" cy="2194560"/>
          </a:xfrm>
          <a:prstGeom prst="roundRect">
            <a:avLst>
              <a:gd name="adj" fmla="val 4167"/>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12" name="Step badge 2"/>
          <p:cNvSpPr/>
          <p:nvPr/>
        </p:nvSpPr>
        <p:spPr>
          <a:xfrm>
            <a:off x="3578047" y="1801368"/>
            <a:ext cx="420624" cy="420624"/>
          </a:xfrm>
          <a:prstGeom prst="ellipse">
            <a:avLst/>
          </a:prstGeom>
          <a:solidFill>
            <a:schemeClr val="accent1"/>
          </a:solidFill>
          <a:ln/>
        </p:spPr>
      </p:sp>
      <p:sp>
        <p:nvSpPr>
          <p:cNvPr id="13" name="Step number 2"/>
          <p:cNvSpPr txBox="1"/>
          <p:nvPr/>
        </p:nvSpPr>
        <p:spPr>
          <a:xfrm>
            <a:off x="3578047" y="1801368"/>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4" name="Step title 2"/>
          <p:cNvSpPr txBox="1"/>
          <p:nvPr/>
        </p:nvSpPr>
        <p:spPr>
          <a:xfrm>
            <a:off x="4126687" y="1801368"/>
            <a:ext cx="1691640" cy="420624"/>
          </a:xfrm>
          <a:prstGeom prst="rect">
            <a:avLst/>
          </a:prstGeom>
          <a:noFill/>
          <a:ln/>
        </p:spPr>
        <p:txBody>
          <a:bodyPr wrap="square" lIns="0" tIns="0" rIns="0" bIns="0" rtlCol="0" anchor="ctr"/>
          <a:lstStyle/>
          <a:p>
            <a:pPr indent="0" marL="0">
              <a:buNone/>
            </a:pPr>
            <a:r>
              <a:rPr lang="en-US" sz="1600" b="1" dirty="0">
                <a:solidFill>
                  <a:schemeClr val="tx1"/>
                </a:solidFill>
              </a:rPr>
              <a:t>Inspect</a:t>
            </a:r>
            <a:endParaRPr lang="en-US" sz="1600" dirty="0"/>
          </a:p>
        </p:txBody>
      </p:sp>
      <p:sp>
        <p:nvSpPr>
          <p:cNvPr id="15" name="Step text 2"/>
          <p:cNvSpPr txBox="1"/>
          <p:nvPr/>
        </p:nvSpPr>
        <p:spPr>
          <a:xfrm>
            <a:off x="3578047" y="2377440"/>
            <a:ext cx="2203704" cy="731520"/>
          </a:xfrm>
          <a:prstGeom prst="rect">
            <a:avLst/>
          </a:prstGeom>
          <a:noFill/>
          <a:ln/>
        </p:spPr>
        <p:txBody>
          <a:bodyPr wrap="square" lIns="0" tIns="0" rIns="0" bIns="0" rtlCol="0" anchor="t"/>
          <a:lstStyle/>
          <a:p>
            <a:pPr indent="0" marL="0">
              <a:buNone/>
            </a:pPr>
            <a:r>
              <a:rPr lang="en-US" sz="1400" dirty="0">
                <a:solidFill>
                  <a:schemeClr val="tx1"/>
                </a:solidFill>
              </a:rPr>
              <a:t>Checked shape, data types, nulls and summary statistics.</a:t>
            </a:r>
            <a:endParaRPr lang="en-US" sz="1400" dirty="0"/>
          </a:p>
        </p:txBody>
      </p:sp>
      <p:sp>
        <p:nvSpPr>
          <p:cNvPr id="16" name="Step code chip 2"/>
          <p:cNvSpPr/>
          <p:nvPr/>
        </p:nvSpPr>
        <p:spPr>
          <a:xfrm>
            <a:off x="3578047" y="3227832"/>
            <a:ext cx="2203704" cy="365760"/>
          </a:xfrm>
          <a:prstGeom prst="roundRect">
            <a:avLst>
              <a:gd name="adj" fmla="val 15000"/>
            </a:avLst>
          </a:prstGeom>
          <a:solidFill>
            <a:schemeClr val="accent5"/>
          </a:solidFill>
          <a:ln/>
        </p:spPr>
      </p:sp>
      <p:sp>
        <p:nvSpPr>
          <p:cNvPr id="17" name="Step code 2"/>
          <p:cNvSpPr txBox="1"/>
          <p:nvPr/>
        </p:nvSpPr>
        <p:spPr>
          <a:xfrm>
            <a:off x="3578047" y="3227832"/>
            <a:ext cx="2203704" cy="365760"/>
          </a:xfrm>
          <a:prstGeom prst="rect">
            <a:avLst/>
          </a:prstGeom>
          <a:noFill/>
          <a:ln/>
        </p:spPr>
        <p:txBody>
          <a:bodyPr wrap="square" lIns="0" tIns="0" rIns="0" bIns="0" rtlCol="0" anchor="ctr"/>
          <a:lstStyle/>
          <a:p>
            <a:pPr algn="ctr" indent="0" marL="0">
              <a:buNone/>
            </a:pPr>
            <a:r>
              <a:rPr lang="en-US" sz="1100" dirty="0">
                <a:solidFill>
                  <a:schemeClr val="accent1"/>
                </a:solidFill>
                <a:latin typeface="Courier New" pitchFamily="34" charset="0"/>
                <a:ea typeface="Courier New" pitchFamily="34" charset="-122"/>
                <a:cs typeface="Courier New" pitchFamily="34" charset="-120"/>
              </a:rPr>
              <a:t>info() · isnull()</a:t>
            </a:r>
            <a:endParaRPr lang="en-US" sz="1100" dirty="0"/>
          </a:p>
        </p:txBody>
      </p:sp>
      <p:sp>
        <p:nvSpPr>
          <p:cNvPr id="18" name="Step card 3"/>
          <p:cNvSpPr/>
          <p:nvPr/>
        </p:nvSpPr>
        <p:spPr>
          <a:xfrm>
            <a:off x="6205118" y="1600200"/>
            <a:ext cx="2606040" cy="2194560"/>
          </a:xfrm>
          <a:prstGeom prst="roundRect">
            <a:avLst>
              <a:gd name="adj" fmla="val 4167"/>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19" name="Step badge 3"/>
          <p:cNvSpPr/>
          <p:nvPr/>
        </p:nvSpPr>
        <p:spPr>
          <a:xfrm>
            <a:off x="6406286" y="1801368"/>
            <a:ext cx="420624" cy="420624"/>
          </a:xfrm>
          <a:prstGeom prst="ellipse">
            <a:avLst/>
          </a:prstGeom>
          <a:solidFill>
            <a:schemeClr val="accent1"/>
          </a:solidFill>
          <a:ln/>
        </p:spPr>
      </p:sp>
      <p:sp>
        <p:nvSpPr>
          <p:cNvPr id="20" name="Step number 3"/>
          <p:cNvSpPr txBox="1"/>
          <p:nvPr/>
        </p:nvSpPr>
        <p:spPr>
          <a:xfrm>
            <a:off x="6406286" y="1801368"/>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1" name="Step title 3"/>
          <p:cNvSpPr txBox="1"/>
          <p:nvPr/>
        </p:nvSpPr>
        <p:spPr>
          <a:xfrm>
            <a:off x="6954926" y="1801368"/>
            <a:ext cx="1691640" cy="420624"/>
          </a:xfrm>
          <a:prstGeom prst="rect">
            <a:avLst/>
          </a:prstGeom>
          <a:noFill/>
          <a:ln/>
        </p:spPr>
        <p:txBody>
          <a:bodyPr wrap="square" lIns="0" tIns="0" rIns="0" bIns="0" rtlCol="0" anchor="ctr"/>
          <a:lstStyle/>
          <a:p>
            <a:pPr indent="0" marL="0">
              <a:buNone/>
            </a:pPr>
            <a:r>
              <a:rPr lang="en-US" sz="1600" b="1" dirty="0">
                <a:solidFill>
                  <a:schemeClr val="tx1"/>
                </a:solidFill>
              </a:rPr>
              <a:t>Remove duplicates</a:t>
            </a:r>
            <a:endParaRPr lang="en-US" sz="1600" dirty="0"/>
          </a:p>
        </p:txBody>
      </p:sp>
      <p:sp>
        <p:nvSpPr>
          <p:cNvPr id="22" name="Step text 3"/>
          <p:cNvSpPr txBox="1"/>
          <p:nvPr/>
        </p:nvSpPr>
        <p:spPr>
          <a:xfrm>
            <a:off x="6406286" y="2377440"/>
            <a:ext cx="2203704" cy="731520"/>
          </a:xfrm>
          <a:prstGeom prst="rect">
            <a:avLst/>
          </a:prstGeom>
          <a:noFill/>
          <a:ln/>
        </p:spPr>
        <p:txBody>
          <a:bodyPr wrap="square" lIns="0" tIns="0" rIns="0" bIns="0" rtlCol="0" anchor="t"/>
          <a:lstStyle/>
          <a:p>
            <a:pPr indent="0" marL="0">
              <a:buNone/>
            </a:pPr>
            <a:r>
              <a:rPr lang="en-US" sz="1400" dirty="0">
                <a:solidFill>
                  <a:schemeClr val="tx1"/>
                </a:solidFill>
              </a:rPr>
              <a:t>Dropped the repeated order line.</a:t>
            </a:r>
            <a:endParaRPr lang="en-US" sz="1400" dirty="0"/>
          </a:p>
        </p:txBody>
      </p:sp>
      <p:sp>
        <p:nvSpPr>
          <p:cNvPr id="23" name="Step code chip 3"/>
          <p:cNvSpPr/>
          <p:nvPr/>
        </p:nvSpPr>
        <p:spPr>
          <a:xfrm>
            <a:off x="6406286" y="3227832"/>
            <a:ext cx="2203704" cy="365760"/>
          </a:xfrm>
          <a:prstGeom prst="roundRect">
            <a:avLst>
              <a:gd name="adj" fmla="val 15000"/>
            </a:avLst>
          </a:prstGeom>
          <a:solidFill>
            <a:schemeClr val="accent5"/>
          </a:solidFill>
          <a:ln/>
        </p:spPr>
      </p:sp>
      <p:sp>
        <p:nvSpPr>
          <p:cNvPr id="24" name="Step code 3"/>
          <p:cNvSpPr txBox="1"/>
          <p:nvPr/>
        </p:nvSpPr>
        <p:spPr>
          <a:xfrm>
            <a:off x="6406286" y="3227832"/>
            <a:ext cx="2203704" cy="365760"/>
          </a:xfrm>
          <a:prstGeom prst="rect">
            <a:avLst/>
          </a:prstGeom>
          <a:noFill/>
          <a:ln/>
        </p:spPr>
        <p:txBody>
          <a:bodyPr wrap="square" lIns="0" tIns="0" rIns="0" bIns="0" rtlCol="0" anchor="ctr"/>
          <a:lstStyle/>
          <a:p>
            <a:pPr algn="ctr" indent="0" marL="0">
              <a:buNone/>
            </a:pPr>
            <a:r>
              <a:rPr lang="en-US" sz="1100" dirty="0">
                <a:solidFill>
                  <a:schemeClr val="accent1"/>
                </a:solidFill>
                <a:latin typeface="Courier New" pitchFamily="34" charset="0"/>
                <a:ea typeface="Courier New" pitchFamily="34" charset="-122"/>
                <a:cs typeface="Courier New" pitchFamily="34" charset="-120"/>
              </a:rPr>
              <a:t>drop_duplicates()</a:t>
            </a:r>
            <a:endParaRPr lang="en-US" sz="1100" dirty="0"/>
          </a:p>
        </p:txBody>
      </p:sp>
      <p:sp>
        <p:nvSpPr>
          <p:cNvPr id="25" name="Step card 4"/>
          <p:cNvSpPr/>
          <p:nvPr/>
        </p:nvSpPr>
        <p:spPr>
          <a:xfrm>
            <a:off x="9033358" y="1600200"/>
            <a:ext cx="2606040" cy="2194560"/>
          </a:xfrm>
          <a:prstGeom prst="roundRect">
            <a:avLst>
              <a:gd name="adj" fmla="val 4167"/>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26" name="Step badge 4"/>
          <p:cNvSpPr/>
          <p:nvPr/>
        </p:nvSpPr>
        <p:spPr>
          <a:xfrm>
            <a:off x="9234526" y="1801368"/>
            <a:ext cx="420624" cy="420624"/>
          </a:xfrm>
          <a:prstGeom prst="ellipse">
            <a:avLst/>
          </a:prstGeom>
          <a:solidFill>
            <a:schemeClr val="accent1"/>
          </a:solidFill>
          <a:ln/>
        </p:spPr>
      </p:sp>
      <p:sp>
        <p:nvSpPr>
          <p:cNvPr id="27" name="Step number 4"/>
          <p:cNvSpPr txBox="1"/>
          <p:nvPr/>
        </p:nvSpPr>
        <p:spPr>
          <a:xfrm>
            <a:off x="9234526" y="1801368"/>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8" name="Step title 4"/>
          <p:cNvSpPr txBox="1"/>
          <p:nvPr/>
        </p:nvSpPr>
        <p:spPr>
          <a:xfrm>
            <a:off x="9783166" y="1801368"/>
            <a:ext cx="1691640" cy="420624"/>
          </a:xfrm>
          <a:prstGeom prst="rect">
            <a:avLst/>
          </a:prstGeom>
          <a:noFill/>
          <a:ln/>
        </p:spPr>
        <p:txBody>
          <a:bodyPr wrap="square" lIns="0" tIns="0" rIns="0" bIns="0" rtlCol="0" anchor="ctr"/>
          <a:lstStyle/>
          <a:p>
            <a:pPr indent="0" marL="0">
              <a:buNone/>
            </a:pPr>
            <a:r>
              <a:rPr lang="en-US" sz="1600" b="1" dirty="0">
                <a:solidFill>
                  <a:schemeClr val="tx1"/>
                </a:solidFill>
              </a:rPr>
              <a:t>Fix Postal Code</a:t>
            </a:r>
            <a:endParaRPr lang="en-US" sz="1600" dirty="0"/>
          </a:p>
        </p:txBody>
      </p:sp>
      <p:sp>
        <p:nvSpPr>
          <p:cNvPr id="29" name="Step text 4"/>
          <p:cNvSpPr txBox="1"/>
          <p:nvPr/>
        </p:nvSpPr>
        <p:spPr>
          <a:xfrm>
            <a:off x="9234526" y="2377440"/>
            <a:ext cx="2203704" cy="731520"/>
          </a:xfrm>
          <a:prstGeom prst="rect">
            <a:avLst/>
          </a:prstGeom>
          <a:noFill/>
          <a:ln/>
        </p:spPr>
        <p:txBody>
          <a:bodyPr wrap="square" lIns="0" tIns="0" rIns="0" bIns="0" rtlCol="0" anchor="t"/>
          <a:lstStyle/>
          <a:p>
            <a:pPr indent="0" marL="0">
              <a:buNone/>
            </a:pPr>
            <a:r>
              <a:rPr lang="en-US" sz="1400" dirty="0">
                <a:solidFill>
                  <a:schemeClr val="tx1"/>
                </a:solidFill>
              </a:rPr>
              <a:t>Filled the blank Burlington, Vermont codes (5408).</a:t>
            </a:r>
            <a:endParaRPr lang="en-US" sz="1400" dirty="0"/>
          </a:p>
        </p:txBody>
      </p:sp>
      <p:sp>
        <p:nvSpPr>
          <p:cNvPr id="30" name="Step code chip 4"/>
          <p:cNvSpPr/>
          <p:nvPr/>
        </p:nvSpPr>
        <p:spPr>
          <a:xfrm>
            <a:off x="9234526" y="3227832"/>
            <a:ext cx="2203704" cy="365760"/>
          </a:xfrm>
          <a:prstGeom prst="roundRect">
            <a:avLst>
              <a:gd name="adj" fmla="val 15000"/>
            </a:avLst>
          </a:prstGeom>
          <a:solidFill>
            <a:schemeClr val="accent5"/>
          </a:solidFill>
          <a:ln/>
        </p:spPr>
      </p:sp>
      <p:sp>
        <p:nvSpPr>
          <p:cNvPr id="31" name="Step code 4"/>
          <p:cNvSpPr txBox="1"/>
          <p:nvPr/>
        </p:nvSpPr>
        <p:spPr>
          <a:xfrm>
            <a:off x="9234526" y="3227832"/>
            <a:ext cx="2203704" cy="365760"/>
          </a:xfrm>
          <a:prstGeom prst="rect">
            <a:avLst/>
          </a:prstGeom>
          <a:noFill/>
          <a:ln/>
        </p:spPr>
        <p:txBody>
          <a:bodyPr wrap="square" lIns="0" tIns="0" rIns="0" bIns="0" rtlCol="0" anchor="ctr"/>
          <a:lstStyle/>
          <a:p>
            <a:pPr algn="ctr" indent="0" marL="0">
              <a:buNone/>
            </a:pPr>
            <a:r>
              <a:rPr lang="en-US" sz="1100" dirty="0">
                <a:solidFill>
                  <a:schemeClr val="accent1"/>
                </a:solidFill>
                <a:latin typeface="Courier New" pitchFamily="34" charset="0"/>
                <a:ea typeface="Courier New" pitchFamily="34" charset="-122"/>
                <a:cs typeface="Courier New" pitchFamily="34" charset="-120"/>
              </a:rPr>
              <a:t>fillna()</a:t>
            </a:r>
            <a:endParaRPr lang="en-US" sz="1100" dirty="0"/>
          </a:p>
        </p:txBody>
      </p:sp>
      <p:sp>
        <p:nvSpPr>
          <p:cNvPr id="32" name="Step card 5"/>
          <p:cNvSpPr/>
          <p:nvPr/>
        </p:nvSpPr>
        <p:spPr>
          <a:xfrm>
            <a:off x="548640" y="4023360"/>
            <a:ext cx="2606040" cy="2194560"/>
          </a:xfrm>
          <a:prstGeom prst="roundRect">
            <a:avLst>
              <a:gd name="adj" fmla="val 4167"/>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33" name="Step badge 5"/>
          <p:cNvSpPr/>
          <p:nvPr/>
        </p:nvSpPr>
        <p:spPr>
          <a:xfrm>
            <a:off x="749808" y="4224528"/>
            <a:ext cx="420624" cy="420624"/>
          </a:xfrm>
          <a:prstGeom prst="ellipse">
            <a:avLst/>
          </a:prstGeom>
          <a:solidFill>
            <a:schemeClr val="accent1"/>
          </a:solidFill>
          <a:ln/>
        </p:spPr>
      </p:sp>
      <p:sp>
        <p:nvSpPr>
          <p:cNvPr id="34" name="Step number 5"/>
          <p:cNvSpPr txBox="1"/>
          <p:nvPr/>
        </p:nvSpPr>
        <p:spPr>
          <a:xfrm>
            <a:off x="749808" y="4224528"/>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35" name="Step title 5"/>
          <p:cNvSpPr txBox="1"/>
          <p:nvPr/>
        </p:nvSpPr>
        <p:spPr>
          <a:xfrm>
            <a:off x="1298448" y="4224528"/>
            <a:ext cx="1691640" cy="420624"/>
          </a:xfrm>
          <a:prstGeom prst="rect">
            <a:avLst/>
          </a:prstGeom>
          <a:noFill/>
          <a:ln/>
        </p:spPr>
        <p:txBody>
          <a:bodyPr wrap="square" lIns="0" tIns="0" rIns="0" bIns="0" rtlCol="0" anchor="ctr"/>
          <a:lstStyle/>
          <a:p>
            <a:pPr indent="0" marL="0">
              <a:buNone/>
            </a:pPr>
            <a:r>
              <a:rPr lang="en-US" sz="1600" b="1" dirty="0">
                <a:solidFill>
                  <a:schemeClr val="tx1"/>
                </a:solidFill>
              </a:rPr>
              <a:t>Convert dates</a:t>
            </a:r>
            <a:endParaRPr lang="en-US" sz="1600" dirty="0"/>
          </a:p>
        </p:txBody>
      </p:sp>
      <p:sp>
        <p:nvSpPr>
          <p:cNvPr id="36" name="Step text 5"/>
          <p:cNvSpPr txBox="1"/>
          <p:nvPr/>
        </p:nvSpPr>
        <p:spPr>
          <a:xfrm>
            <a:off x="749808" y="4800600"/>
            <a:ext cx="2203704" cy="731520"/>
          </a:xfrm>
          <a:prstGeom prst="rect">
            <a:avLst/>
          </a:prstGeom>
          <a:noFill/>
          <a:ln/>
        </p:spPr>
        <p:txBody>
          <a:bodyPr wrap="square" lIns="0" tIns="0" rIns="0" bIns="0" rtlCol="0" anchor="t"/>
          <a:lstStyle/>
          <a:p>
            <a:pPr indent="0" marL="0">
              <a:buNone/>
            </a:pPr>
            <a:r>
              <a:rPr lang="en-US" sz="1400" dirty="0">
                <a:solidFill>
                  <a:schemeClr val="tx1"/>
                </a:solidFill>
              </a:rPr>
              <a:t>Order Date and Ship Date changed to datetime type.</a:t>
            </a:r>
            <a:endParaRPr lang="en-US" sz="1400" dirty="0"/>
          </a:p>
        </p:txBody>
      </p:sp>
      <p:sp>
        <p:nvSpPr>
          <p:cNvPr id="37" name="Step code chip 5"/>
          <p:cNvSpPr/>
          <p:nvPr/>
        </p:nvSpPr>
        <p:spPr>
          <a:xfrm>
            <a:off x="749808" y="5650992"/>
            <a:ext cx="2203704" cy="365760"/>
          </a:xfrm>
          <a:prstGeom prst="roundRect">
            <a:avLst>
              <a:gd name="adj" fmla="val 15000"/>
            </a:avLst>
          </a:prstGeom>
          <a:solidFill>
            <a:schemeClr val="accent5"/>
          </a:solidFill>
          <a:ln/>
        </p:spPr>
      </p:sp>
      <p:sp>
        <p:nvSpPr>
          <p:cNvPr id="38" name="Step code 5"/>
          <p:cNvSpPr txBox="1"/>
          <p:nvPr/>
        </p:nvSpPr>
        <p:spPr>
          <a:xfrm>
            <a:off x="749808" y="5650992"/>
            <a:ext cx="2203704" cy="365760"/>
          </a:xfrm>
          <a:prstGeom prst="rect">
            <a:avLst/>
          </a:prstGeom>
          <a:noFill/>
          <a:ln/>
        </p:spPr>
        <p:txBody>
          <a:bodyPr wrap="square" lIns="0" tIns="0" rIns="0" bIns="0" rtlCol="0" anchor="ctr"/>
          <a:lstStyle/>
          <a:p>
            <a:pPr algn="ctr" indent="0" marL="0">
              <a:buNone/>
            </a:pPr>
            <a:r>
              <a:rPr lang="en-US" sz="1100" dirty="0">
                <a:solidFill>
                  <a:schemeClr val="accent1"/>
                </a:solidFill>
                <a:latin typeface="Courier New" pitchFamily="34" charset="0"/>
                <a:ea typeface="Courier New" pitchFamily="34" charset="-122"/>
                <a:cs typeface="Courier New" pitchFamily="34" charset="-120"/>
              </a:rPr>
              <a:t>pd.to_datetime()</a:t>
            </a:r>
            <a:endParaRPr lang="en-US" sz="1100" dirty="0"/>
          </a:p>
        </p:txBody>
      </p:sp>
      <p:sp>
        <p:nvSpPr>
          <p:cNvPr id="39" name="Step card 6"/>
          <p:cNvSpPr/>
          <p:nvPr/>
        </p:nvSpPr>
        <p:spPr>
          <a:xfrm>
            <a:off x="3376879" y="4023360"/>
            <a:ext cx="2606040" cy="2194560"/>
          </a:xfrm>
          <a:prstGeom prst="roundRect">
            <a:avLst>
              <a:gd name="adj" fmla="val 4167"/>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40" name="Step badge 6"/>
          <p:cNvSpPr/>
          <p:nvPr/>
        </p:nvSpPr>
        <p:spPr>
          <a:xfrm>
            <a:off x="3578047" y="4224528"/>
            <a:ext cx="420624" cy="420624"/>
          </a:xfrm>
          <a:prstGeom prst="ellipse">
            <a:avLst/>
          </a:prstGeom>
          <a:solidFill>
            <a:schemeClr val="accent1"/>
          </a:solidFill>
          <a:ln/>
        </p:spPr>
      </p:sp>
      <p:sp>
        <p:nvSpPr>
          <p:cNvPr id="41" name="Step number 6"/>
          <p:cNvSpPr txBox="1"/>
          <p:nvPr/>
        </p:nvSpPr>
        <p:spPr>
          <a:xfrm>
            <a:off x="3578047" y="4224528"/>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42" name="Step title 6"/>
          <p:cNvSpPr txBox="1"/>
          <p:nvPr/>
        </p:nvSpPr>
        <p:spPr>
          <a:xfrm>
            <a:off x="4126687" y="4224528"/>
            <a:ext cx="1691640" cy="420624"/>
          </a:xfrm>
          <a:prstGeom prst="rect">
            <a:avLst/>
          </a:prstGeom>
          <a:noFill/>
          <a:ln/>
        </p:spPr>
        <p:txBody>
          <a:bodyPr wrap="square" lIns="0" tIns="0" rIns="0" bIns="0" rtlCol="0" anchor="ctr"/>
          <a:lstStyle/>
          <a:p>
            <a:pPr indent="0" marL="0">
              <a:buNone/>
            </a:pPr>
            <a:r>
              <a:rPr lang="en-US" sz="1600" b="1" dirty="0">
                <a:solidFill>
                  <a:schemeClr val="tx1"/>
                </a:solidFill>
              </a:rPr>
              <a:t>Sort and reset</a:t>
            </a:r>
            <a:endParaRPr lang="en-US" sz="1600" dirty="0"/>
          </a:p>
        </p:txBody>
      </p:sp>
      <p:sp>
        <p:nvSpPr>
          <p:cNvPr id="43" name="Step text 6"/>
          <p:cNvSpPr txBox="1"/>
          <p:nvPr/>
        </p:nvSpPr>
        <p:spPr>
          <a:xfrm>
            <a:off x="3578047" y="4800600"/>
            <a:ext cx="2203704" cy="731520"/>
          </a:xfrm>
          <a:prstGeom prst="rect">
            <a:avLst/>
          </a:prstGeom>
          <a:noFill/>
          <a:ln/>
        </p:spPr>
        <p:txBody>
          <a:bodyPr wrap="square" lIns="0" tIns="0" rIns="0" bIns="0" rtlCol="0" anchor="t"/>
          <a:lstStyle/>
          <a:p>
            <a:pPr indent="0" marL="0">
              <a:buNone/>
            </a:pPr>
            <a:r>
              <a:rPr lang="en-US" sz="1400" dirty="0">
                <a:solidFill>
                  <a:schemeClr val="tx1"/>
                </a:solidFill>
              </a:rPr>
              <a:t>Arranged rows by Row ID and reset the index.</a:t>
            </a:r>
            <a:endParaRPr lang="en-US" sz="1400" dirty="0"/>
          </a:p>
        </p:txBody>
      </p:sp>
      <p:sp>
        <p:nvSpPr>
          <p:cNvPr id="44" name="Step code chip 6"/>
          <p:cNvSpPr/>
          <p:nvPr/>
        </p:nvSpPr>
        <p:spPr>
          <a:xfrm>
            <a:off x="3578047" y="5650992"/>
            <a:ext cx="2203704" cy="365760"/>
          </a:xfrm>
          <a:prstGeom prst="roundRect">
            <a:avLst>
              <a:gd name="adj" fmla="val 15000"/>
            </a:avLst>
          </a:prstGeom>
          <a:solidFill>
            <a:schemeClr val="accent5"/>
          </a:solidFill>
          <a:ln/>
        </p:spPr>
      </p:sp>
      <p:sp>
        <p:nvSpPr>
          <p:cNvPr id="45" name="Step code 6"/>
          <p:cNvSpPr txBox="1"/>
          <p:nvPr/>
        </p:nvSpPr>
        <p:spPr>
          <a:xfrm>
            <a:off x="3578047" y="5650992"/>
            <a:ext cx="2203704" cy="365760"/>
          </a:xfrm>
          <a:prstGeom prst="rect">
            <a:avLst/>
          </a:prstGeom>
          <a:noFill/>
          <a:ln/>
        </p:spPr>
        <p:txBody>
          <a:bodyPr wrap="square" lIns="0" tIns="0" rIns="0" bIns="0" rtlCol="0" anchor="ctr"/>
          <a:lstStyle/>
          <a:p>
            <a:pPr algn="ctr" indent="0" marL="0">
              <a:buNone/>
            </a:pPr>
            <a:r>
              <a:rPr lang="en-US" sz="1100" dirty="0">
                <a:solidFill>
                  <a:schemeClr val="accent1"/>
                </a:solidFill>
                <a:latin typeface="Courier New" pitchFamily="34" charset="0"/>
                <a:ea typeface="Courier New" pitchFamily="34" charset="-122"/>
                <a:cs typeface="Courier New" pitchFamily="34" charset="-120"/>
              </a:rPr>
              <a:t>sort_values()</a:t>
            </a:r>
            <a:endParaRPr lang="en-US" sz="1100" dirty="0"/>
          </a:p>
        </p:txBody>
      </p:sp>
      <p:sp>
        <p:nvSpPr>
          <p:cNvPr id="46" name="Step card 7"/>
          <p:cNvSpPr/>
          <p:nvPr/>
        </p:nvSpPr>
        <p:spPr>
          <a:xfrm>
            <a:off x="6205118" y="4023360"/>
            <a:ext cx="2606040" cy="2194560"/>
          </a:xfrm>
          <a:prstGeom prst="roundRect">
            <a:avLst>
              <a:gd name="adj" fmla="val 4167"/>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47" name="Step badge 7"/>
          <p:cNvSpPr/>
          <p:nvPr/>
        </p:nvSpPr>
        <p:spPr>
          <a:xfrm>
            <a:off x="6406286" y="4224528"/>
            <a:ext cx="420624" cy="420624"/>
          </a:xfrm>
          <a:prstGeom prst="ellipse">
            <a:avLst/>
          </a:prstGeom>
          <a:solidFill>
            <a:schemeClr val="accent1"/>
          </a:solidFill>
          <a:ln/>
        </p:spPr>
      </p:sp>
      <p:sp>
        <p:nvSpPr>
          <p:cNvPr id="48" name="Step number 7"/>
          <p:cNvSpPr txBox="1"/>
          <p:nvPr/>
        </p:nvSpPr>
        <p:spPr>
          <a:xfrm>
            <a:off x="6406286" y="4224528"/>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7</a:t>
            </a:r>
            <a:endParaRPr lang="en-US" sz="1500" dirty="0"/>
          </a:p>
        </p:txBody>
      </p:sp>
      <p:sp>
        <p:nvSpPr>
          <p:cNvPr id="49" name="Step title 7"/>
          <p:cNvSpPr txBox="1"/>
          <p:nvPr/>
        </p:nvSpPr>
        <p:spPr>
          <a:xfrm>
            <a:off x="6954926" y="4224528"/>
            <a:ext cx="1691640" cy="420624"/>
          </a:xfrm>
          <a:prstGeom prst="rect">
            <a:avLst/>
          </a:prstGeom>
          <a:noFill/>
          <a:ln/>
        </p:spPr>
        <p:txBody>
          <a:bodyPr wrap="square" lIns="0" tIns="0" rIns="0" bIns="0" rtlCol="0" anchor="ctr"/>
          <a:lstStyle/>
          <a:p>
            <a:pPr indent="0" marL="0">
              <a:buNone/>
            </a:pPr>
            <a:r>
              <a:rPr lang="en-US" sz="1600" b="1" dirty="0">
                <a:solidFill>
                  <a:schemeClr val="tx1"/>
                </a:solidFill>
              </a:rPr>
              <a:t>Export</a:t>
            </a:r>
            <a:endParaRPr lang="en-US" sz="1600" dirty="0"/>
          </a:p>
        </p:txBody>
      </p:sp>
      <p:sp>
        <p:nvSpPr>
          <p:cNvPr id="50" name="Step text 7"/>
          <p:cNvSpPr txBox="1"/>
          <p:nvPr/>
        </p:nvSpPr>
        <p:spPr>
          <a:xfrm>
            <a:off x="6406286" y="4800600"/>
            <a:ext cx="2203704" cy="731520"/>
          </a:xfrm>
          <a:prstGeom prst="rect">
            <a:avLst/>
          </a:prstGeom>
          <a:noFill/>
          <a:ln/>
        </p:spPr>
        <p:txBody>
          <a:bodyPr wrap="square" lIns="0" tIns="0" rIns="0" bIns="0" rtlCol="0" anchor="t"/>
          <a:lstStyle/>
          <a:p>
            <a:pPr indent="0" marL="0">
              <a:buNone/>
            </a:pPr>
            <a:r>
              <a:rPr lang="en-US" sz="1400" dirty="0">
                <a:solidFill>
                  <a:schemeClr val="tx1"/>
                </a:solidFill>
              </a:rPr>
              <a:t>Saved the result as Superstore_Cleaned.csv for Power BI.</a:t>
            </a:r>
            <a:endParaRPr lang="en-US" sz="1400" dirty="0"/>
          </a:p>
        </p:txBody>
      </p:sp>
      <p:sp>
        <p:nvSpPr>
          <p:cNvPr id="51" name="Step code chip 7"/>
          <p:cNvSpPr/>
          <p:nvPr/>
        </p:nvSpPr>
        <p:spPr>
          <a:xfrm>
            <a:off x="6406286" y="5650992"/>
            <a:ext cx="2203704" cy="365760"/>
          </a:xfrm>
          <a:prstGeom prst="roundRect">
            <a:avLst>
              <a:gd name="adj" fmla="val 15000"/>
            </a:avLst>
          </a:prstGeom>
          <a:solidFill>
            <a:schemeClr val="accent5"/>
          </a:solidFill>
          <a:ln/>
        </p:spPr>
      </p:sp>
      <p:sp>
        <p:nvSpPr>
          <p:cNvPr id="52" name="Step code 7"/>
          <p:cNvSpPr txBox="1"/>
          <p:nvPr/>
        </p:nvSpPr>
        <p:spPr>
          <a:xfrm>
            <a:off x="6406286" y="5650992"/>
            <a:ext cx="2203704" cy="365760"/>
          </a:xfrm>
          <a:prstGeom prst="rect">
            <a:avLst/>
          </a:prstGeom>
          <a:noFill/>
          <a:ln/>
        </p:spPr>
        <p:txBody>
          <a:bodyPr wrap="square" lIns="0" tIns="0" rIns="0" bIns="0" rtlCol="0" anchor="ctr"/>
          <a:lstStyle/>
          <a:p>
            <a:pPr algn="ctr" indent="0" marL="0">
              <a:buNone/>
            </a:pPr>
            <a:r>
              <a:rPr lang="en-US" sz="1100" dirty="0">
                <a:solidFill>
                  <a:schemeClr val="accent1"/>
                </a:solidFill>
                <a:latin typeface="Courier New" pitchFamily="34" charset="0"/>
                <a:ea typeface="Courier New" pitchFamily="34" charset="-122"/>
                <a:cs typeface="Courier New" pitchFamily="34" charset="-120"/>
              </a:rPr>
              <a:t>to_csv()</a:t>
            </a:r>
            <a:endParaRPr lang="en-US" sz="1100" dirty="0"/>
          </a:p>
        </p:txBody>
      </p:sp>
      <p:sp>
        <p:nvSpPr>
          <p:cNvPr id="53" name="Result card"/>
          <p:cNvSpPr/>
          <p:nvPr/>
        </p:nvSpPr>
        <p:spPr>
          <a:xfrm>
            <a:off x="9033358" y="4023360"/>
            <a:ext cx="2606040" cy="2194560"/>
          </a:xfrm>
          <a:prstGeom prst="roundRect">
            <a:avLst>
              <a:gd name="adj" fmla="val 4167"/>
            </a:avLst>
          </a:prstGeom>
          <a:solidFill>
            <a:schemeClr val="accent1"/>
          </a:solidFill>
          <a:ln/>
          <a:effectLst>
            <a:outerShdw sx="100000" sy="100000" kx="0" ky="0" algn="bl" rotWithShape="0" blurRad="127000" dist="25400" dir="5400000">
              <a:srgbClr val="1F2A37">
                <a:alpha val="8000"/>
              </a:srgbClr>
            </a:outerShdw>
          </a:effectLst>
        </p:spPr>
      </p:sp>
      <p:sp>
        <p:nvSpPr>
          <p:cNvPr id="54" name="Result label"/>
          <p:cNvSpPr txBox="1"/>
          <p:nvPr/>
        </p:nvSpPr>
        <p:spPr>
          <a:xfrm>
            <a:off x="9261958" y="4251960"/>
            <a:ext cx="2148840" cy="274320"/>
          </a:xfrm>
          <a:prstGeom prst="rect">
            <a:avLst/>
          </a:prstGeom>
          <a:noFill/>
          <a:ln/>
        </p:spPr>
        <p:txBody>
          <a:bodyPr wrap="square" lIns="0" tIns="0" rIns="0" bIns="0" rtlCol="0" anchor="ctr"/>
          <a:lstStyle/>
          <a:p>
            <a:pPr indent="0" marL="0">
              <a:buNone/>
            </a:pPr>
            <a:r>
              <a:rPr lang="en-US" sz="1100" b="1" spc="300" kern="0" dirty="0">
                <a:solidFill>
                  <a:schemeClr val="accent5"/>
                </a:solidFill>
              </a:rPr>
              <a:t>RESULT</a:t>
            </a:r>
            <a:endParaRPr lang="en-US" sz="1100" dirty="0"/>
          </a:p>
        </p:txBody>
      </p:sp>
      <p:sp>
        <p:nvSpPr>
          <p:cNvPr id="55" name="Result rows"/>
          <p:cNvSpPr txBox="1"/>
          <p:nvPr/>
        </p:nvSpPr>
        <p:spPr>
          <a:xfrm>
            <a:off x="9261958" y="4617720"/>
            <a:ext cx="2148840" cy="548640"/>
          </a:xfrm>
          <a:prstGeom prst="rect">
            <a:avLst/>
          </a:prstGeom>
          <a:noFill/>
          <a:ln/>
        </p:spPr>
        <p:txBody>
          <a:bodyPr wrap="square" lIns="0" tIns="0" rIns="0" bIns="0" rtlCol="0" anchor="ctr"/>
          <a:lstStyle/>
          <a:p>
            <a:pPr indent="0" marL="0">
              <a:buNone/>
            </a:pPr>
            <a:r>
              <a:rPr lang="en-US" sz="2600" b="1" dirty="0">
                <a:solidFill>
                  <a:schemeClr val="bg1"/>
                </a:solidFill>
                <a:latin typeface="Cambria" pitchFamily="34" charset="0"/>
                <a:ea typeface="Cambria" pitchFamily="34" charset="-122"/>
                <a:cs typeface="Cambria" pitchFamily="34" charset="-120"/>
              </a:rPr>
              <a:t>9,994 → 9,993</a:t>
            </a:r>
            <a:endParaRPr lang="en-US" sz="2600" dirty="0"/>
          </a:p>
        </p:txBody>
      </p:sp>
      <p:sp>
        <p:nvSpPr>
          <p:cNvPr id="56" name="Result text"/>
          <p:cNvSpPr txBox="1"/>
          <p:nvPr/>
        </p:nvSpPr>
        <p:spPr>
          <a:xfrm>
            <a:off x="9261958" y="5257800"/>
            <a:ext cx="2148840" cy="731520"/>
          </a:xfrm>
          <a:prstGeom prst="rect">
            <a:avLst/>
          </a:prstGeom>
          <a:noFill/>
          <a:ln/>
        </p:spPr>
        <p:txBody>
          <a:bodyPr wrap="square" lIns="0" tIns="0" rIns="0" bIns="0" rtlCol="0" anchor="t"/>
          <a:lstStyle/>
          <a:p>
            <a:pPr indent="0" marL="0">
              <a:buNone/>
            </a:pPr>
            <a:r>
              <a:rPr lang="en-US" sz="1400" dirty="0">
                <a:solidFill>
                  <a:schemeClr val="bg1"/>
                </a:solidFill>
              </a:rPr>
              <a:t>rows, with zero null values and proper date types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100" b="1" spc="300" kern="0" dirty="0">
                <a:solidFill>
                  <a:schemeClr val="accent1"/>
                </a:solidFill>
              </a:rPr>
              <a:t>03  ·  FINAL DATASET</a:t>
            </a:r>
            <a:endParaRPr lang="en-US" sz="1100" dirty="0"/>
          </a:p>
        </p:txBody>
      </p:sp>
      <p:sp>
        <p:nvSpPr>
          <p:cNvPr id="3"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The clean dataset</a:t>
            </a:r>
            <a:endParaRPr lang="en-US" sz="3400" dirty="0"/>
          </a:p>
        </p:txBody>
      </p:sp>
      <p:sp>
        <p:nvSpPr>
          <p:cNvPr id="4" name="Final stat 1 card"/>
          <p:cNvSpPr/>
          <p:nvPr/>
        </p:nvSpPr>
        <p:spPr>
          <a:xfrm>
            <a:off x="548640" y="1600200"/>
            <a:ext cx="2606040" cy="1097280"/>
          </a:xfrm>
          <a:prstGeom prst="roundRect">
            <a:avLst>
              <a:gd name="adj" fmla="val 8333"/>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5" name="Final stat 1 value"/>
          <p:cNvSpPr txBox="1"/>
          <p:nvPr/>
        </p:nvSpPr>
        <p:spPr>
          <a:xfrm>
            <a:off x="731520" y="1709928"/>
            <a:ext cx="2240280" cy="603504"/>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9,993</a:t>
            </a:r>
            <a:endParaRPr lang="en-US" sz="3000" dirty="0"/>
          </a:p>
        </p:txBody>
      </p:sp>
      <p:sp>
        <p:nvSpPr>
          <p:cNvPr id="6" name="Final stat 1 label"/>
          <p:cNvSpPr txBox="1"/>
          <p:nvPr/>
        </p:nvSpPr>
        <p:spPr>
          <a:xfrm>
            <a:off x="731520" y="2313432"/>
            <a:ext cx="2240280" cy="329184"/>
          </a:xfrm>
          <a:prstGeom prst="rect">
            <a:avLst/>
          </a:prstGeom>
          <a:noFill/>
          <a:ln/>
        </p:spPr>
        <p:txBody>
          <a:bodyPr wrap="square" lIns="0" tIns="0" rIns="0" bIns="0" rtlCol="0" anchor="t"/>
          <a:lstStyle/>
          <a:p>
            <a:pPr indent="0" marL="0">
              <a:buNone/>
            </a:pPr>
            <a:r>
              <a:rPr lang="en-US" sz="1300" dirty="0">
                <a:solidFill>
                  <a:schemeClr val="accent6"/>
                </a:solidFill>
              </a:rPr>
              <a:t>clean records</a:t>
            </a:r>
            <a:endParaRPr lang="en-US" sz="1300" dirty="0"/>
          </a:p>
        </p:txBody>
      </p:sp>
      <p:sp>
        <p:nvSpPr>
          <p:cNvPr id="7" name="Final stat 2 card"/>
          <p:cNvSpPr/>
          <p:nvPr/>
        </p:nvSpPr>
        <p:spPr>
          <a:xfrm>
            <a:off x="3376879" y="1600200"/>
            <a:ext cx="2606040" cy="1097280"/>
          </a:xfrm>
          <a:prstGeom prst="roundRect">
            <a:avLst>
              <a:gd name="adj" fmla="val 8333"/>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8" name="Final stat 2 value"/>
          <p:cNvSpPr txBox="1"/>
          <p:nvPr/>
        </p:nvSpPr>
        <p:spPr>
          <a:xfrm>
            <a:off x="3559759" y="1709928"/>
            <a:ext cx="2240280" cy="603504"/>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21</a:t>
            </a:r>
            <a:endParaRPr lang="en-US" sz="3000" dirty="0"/>
          </a:p>
        </p:txBody>
      </p:sp>
      <p:sp>
        <p:nvSpPr>
          <p:cNvPr id="9" name="Final stat 2 label"/>
          <p:cNvSpPr txBox="1"/>
          <p:nvPr/>
        </p:nvSpPr>
        <p:spPr>
          <a:xfrm>
            <a:off x="3559759" y="2313432"/>
            <a:ext cx="2240280" cy="329184"/>
          </a:xfrm>
          <a:prstGeom prst="rect">
            <a:avLst/>
          </a:prstGeom>
          <a:noFill/>
          <a:ln/>
        </p:spPr>
        <p:txBody>
          <a:bodyPr wrap="square" lIns="0" tIns="0" rIns="0" bIns="0" rtlCol="0" anchor="t"/>
          <a:lstStyle/>
          <a:p>
            <a:pPr indent="0" marL="0">
              <a:buNone/>
            </a:pPr>
            <a:r>
              <a:rPr lang="en-US" sz="1300" dirty="0">
                <a:solidFill>
                  <a:schemeClr val="accent6"/>
                </a:solidFill>
              </a:rPr>
              <a:t>columns</a:t>
            </a:r>
            <a:endParaRPr lang="en-US" sz="1300" dirty="0"/>
          </a:p>
        </p:txBody>
      </p:sp>
      <p:sp>
        <p:nvSpPr>
          <p:cNvPr id="10" name="Final stat 3 card"/>
          <p:cNvSpPr/>
          <p:nvPr/>
        </p:nvSpPr>
        <p:spPr>
          <a:xfrm>
            <a:off x="6205118" y="1600200"/>
            <a:ext cx="2606040" cy="1097280"/>
          </a:xfrm>
          <a:prstGeom prst="roundRect">
            <a:avLst>
              <a:gd name="adj" fmla="val 8333"/>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11" name="Final stat 3 value"/>
          <p:cNvSpPr txBox="1"/>
          <p:nvPr/>
        </p:nvSpPr>
        <p:spPr>
          <a:xfrm>
            <a:off x="6387998" y="1709928"/>
            <a:ext cx="2240280" cy="603504"/>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0</a:t>
            </a:r>
            <a:endParaRPr lang="en-US" sz="3000" dirty="0"/>
          </a:p>
        </p:txBody>
      </p:sp>
      <p:sp>
        <p:nvSpPr>
          <p:cNvPr id="12" name="Final stat 3 label"/>
          <p:cNvSpPr txBox="1"/>
          <p:nvPr/>
        </p:nvSpPr>
        <p:spPr>
          <a:xfrm>
            <a:off x="6387998" y="2313432"/>
            <a:ext cx="2240280" cy="329184"/>
          </a:xfrm>
          <a:prstGeom prst="rect">
            <a:avLst/>
          </a:prstGeom>
          <a:noFill/>
          <a:ln/>
        </p:spPr>
        <p:txBody>
          <a:bodyPr wrap="square" lIns="0" tIns="0" rIns="0" bIns="0" rtlCol="0" anchor="t"/>
          <a:lstStyle/>
          <a:p>
            <a:pPr indent="0" marL="0">
              <a:buNone/>
            </a:pPr>
            <a:r>
              <a:rPr lang="en-US" sz="1300" dirty="0">
                <a:solidFill>
                  <a:schemeClr val="accent6"/>
                </a:solidFill>
              </a:rPr>
              <a:t>null values</a:t>
            </a:r>
            <a:endParaRPr lang="en-US" sz="1300" dirty="0"/>
          </a:p>
        </p:txBody>
      </p:sp>
      <p:sp>
        <p:nvSpPr>
          <p:cNvPr id="13" name="Final stat 4 card"/>
          <p:cNvSpPr/>
          <p:nvPr/>
        </p:nvSpPr>
        <p:spPr>
          <a:xfrm>
            <a:off x="9033358" y="1600200"/>
            <a:ext cx="2606040" cy="1097280"/>
          </a:xfrm>
          <a:prstGeom prst="roundRect">
            <a:avLst>
              <a:gd name="adj" fmla="val 8333"/>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14" name="Final stat 4 value"/>
          <p:cNvSpPr txBox="1"/>
          <p:nvPr/>
        </p:nvSpPr>
        <p:spPr>
          <a:xfrm>
            <a:off x="9216238" y="1709928"/>
            <a:ext cx="2240280" cy="603504"/>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$2.3M</a:t>
            </a:r>
            <a:endParaRPr lang="en-US" sz="3000" dirty="0"/>
          </a:p>
        </p:txBody>
      </p:sp>
      <p:sp>
        <p:nvSpPr>
          <p:cNvPr id="15" name="Final stat 4 label"/>
          <p:cNvSpPr txBox="1"/>
          <p:nvPr/>
        </p:nvSpPr>
        <p:spPr>
          <a:xfrm>
            <a:off x="9216238" y="2313432"/>
            <a:ext cx="2240280" cy="329184"/>
          </a:xfrm>
          <a:prstGeom prst="rect">
            <a:avLst/>
          </a:prstGeom>
          <a:noFill/>
          <a:ln/>
        </p:spPr>
        <p:txBody>
          <a:bodyPr wrap="square" lIns="0" tIns="0" rIns="0" bIns="0" rtlCol="0" anchor="t"/>
          <a:lstStyle/>
          <a:p>
            <a:pPr indent="0" marL="0">
              <a:buNone/>
            </a:pPr>
            <a:r>
              <a:rPr lang="en-US" sz="1300" dirty="0">
                <a:solidFill>
                  <a:schemeClr val="accent6"/>
                </a:solidFill>
              </a:rPr>
              <a:t>total sales, 2014–2017</a:t>
            </a:r>
            <a:endParaRPr lang="en-US" sz="1300" dirty="0"/>
          </a:p>
        </p:txBody>
      </p:sp>
      <p:sp>
        <p:nvSpPr>
          <p:cNvPr id="16" name="Done card"/>
          <p:cNvSpPr/>
          <p:nvPr/>
        </p:nvSpPr>
        <p:spPr>
          <a:xfrm>
            <a:off x="548640" y="2926080"/>
            <a:ext cx="4572000" cy="3200400"/>
          </a:xfrm>
          <a:prstGeom prst="roundRect">
            <a:avLst>
              <a:gd name="adj" fmla="val 2857"/>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17" name="Done heading"/>
          <p:cNvSpPr txBox="1"/>
          <p:nvPr/>
        </p:nvSpPr>
        <p:spPr>
          <a:xfrm>
            <a:off x="777240" y="3063240"/>
            <a:ext cx="4114800"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What was done</a:t>
            </a:r>
            <a:endParaRPr lang="en-US" sz="1800" dirty="0"/>
          </a:p>
        </p:txBody>
      </p:sp>
      <p:sp>
        <p:nvSpPr>
          <p:cNvPr id="18" name="Check badge 1"/>
          <p:cNvSpPr/>
          <p:nvPr/>
        </p:nvSpPr>
        <p:spPr>
          <a:xfrm>
            <a:off x="777240" y="3639312"/>
            <a:ext cx="292608" cy="292608"/>
          </a:xfrm>
          <a:prstGeom prst="ellipse">
            <a:avLst/>
          </a:prstGeom>
          <a:solidFill>
            <a:schemeClr val="accent1"/>
          </a:solidFill>
          <a:ln/>
        </p:spPr>
      </p:sp>
      <p:pic>
        <p:nvPicPr>
          <p:cNvPr id="19" name="Image 0" descr="Check mark">    </p:cNvPr>
          <p:cNvPicPr>
            <a:picLocks noChangeAspect="1"/>
          </p:cNvPicPr>
          <p:nvPr/>
        </p:nvPicPr>
        <p:blipFill>
          <a:blip r:embed="rId1"/>
          <a:stretch>
            <a:fillRect/>
          </a:stretch>
        </p:blipFill>
        <p:spPr>
          <a:xfrm>
            <a:off x="822960" y="3685032"/>
            <a:ext cx="201168" cy="201168"/>
          </a:xfrm>
          <a:prstGeom prst="rect">
            <a:avLst/>
          </a:prstGeom>
        </p:spPr>
      </p:pic>
      <p:sp>
        <p:nvSpPr>
          <p:cNvPr id="20" name="Done item 1"/>
          <p:cNvSpPr txBox="1"/>
          <p:nvPr/>
        </p:nvSpPr>
        <p:spPr>
          <a:xfrm>
            <a:off x="1234440" y="3611880"/>
            <a:ext cx="3749040" cy="347472"/>
          </a:xfrm>
          <a:prstGeom prst="rect">
            <a:avLst/>
          </a:prstGeom>
          <a:noFill/>
          <a:ln/>
        </p:spPr>
        <p:txBody>
          <a:bodyPr wrap="square" lIns="0" tIns="0" rIns="0" bIns="0" rtlCol="0" anchor="ctr"/>
          <a:lstStyle/>
          <a:p>
            <a:pPr indent="0" marL="0">
              <a:buNone/>
            </a:pPr>
            <a:r>
              <a:rPr lang="en-US" sz="1400" dirty="0">
                <a:solidFill>
                  <a:schemeClr val="tx1"/>
                </a:solidFill>
              </a:rPr>
              <a:t>Duplicate line removed</a:t>
            </a:r>
            <a:endParaRPr lang="en-US" sz="1400" dirty="0"/>
          </a:p>
        </p:txBody>
      </p:sp>
      <p:sp>
        <p:nvSpPr>
          <p:cNvPr id="21" name="Check badge 2"/>
          <p:cNvSpPr/>
          <p:nvPr/>
        </p:nvSpPr>
        <p:spPr>
          <a:xfrm>
            <a:off x="777240" y="4114800"/>
            <a:ext cx="292608" cy="292608"/>
          </a:xfrm>
          <a:prstGeom prst="ellipse">
            <a:avLst/>
          </a:prstGeom>
          <a:solidFill>
            <a:schemeClr val="accent1"/>
          </a:solidFill>
          <a:ln/>
        </p:spPr>
      </p:sp>
      <p:pic>
        <p:nvPicPr>
          <p:cNvPr id="22" name="Image 1" descr="Check mark">    </p:cNvPr>
          <p:cNvPicPr>
            <a:picLocks noChangeAspect="1"/>
          </p:cNvPicPr>
          <p:nvPr/>
        </p:nvPicPr>
        <p:blipFill>
          <a:blip r:embed="rId2"/>
          <a:stretch>
            <a:fillRect/>
          </a:stretch>
        </p:blipFill>
        <p:spPr>
          <a:xfrm>
            <a:off x="822960" y="4160520"/>
            <a:ext cx="201168" cy="201168"/>
          </a:xfrm>
          <a:prstGeom prst="rect">
            <a:avLst/>
          </a:prstGeom>
        </p:spPr>
      </p:pic>
      <p:sp>
        <p:nvSpPr>
          <p:cNvPr id="23" name="Done item 2"/>
          <p:cNvSpPr txBox="1"/>
          <p:nvPr/>
        </p:nvSpPr>
        <p:spPr>
          <a:xfrm>
            <a:off x="1234440" y="4087368"/>
            <a:ext cx="3749040" cy="347472"/>
          </a:xfrm>
          <a:prstGeom prst="rect">
            <a:avLst/>
          </a:prstGeom>
          <a:noFill/>
          <a:ln/>
        </p:spPr>
        <p:txBody>
          <a:bodyPr wrap="square" lIns="0" tIns="0" rIns="0" bIns="0" rtlCol="0" anchor="ctr"/>
          <a:lstStyle/>
          <a:p>
            <a:pPr indent="0" marL="0">
              <a:buNone/>
            </a:pPr>
            <a:r>
              <a:rPr lang="en-US" sz="1400" dirty="0">
                <a:solidFill>
                  <a:schemeClr val="tx1"/>
                </a:solidFill>
              </a:rPr>
              <a:t>Postal codes completed</a:t>
            </a:r>
            <a:endParaRPr lang="en-US" sz="1400" dirty="0"/>
          </a:p>
        </p:txBody>
      </p:sp>
      <p:sp>
        <p:nvSpPr>
          <p:cNvPr id="24" name="Check badge 3"/>
          <p:cNvSpPr/>
          <p:nvPr/>
        </p:nvSpPr>
        <p:spPr>
          <a:xfrm>
            <a:off x="777240" y="4590288"/>
            <a:ext cx="292608" cy="292608"/>
          </a:xfrm>
          <a:prstGeom prst="ellipse">
            <a:avLst/>
          </a:prstGeom>
          <a:solidFill>
            <a:schemeClr val="accent1"/>
          </a:solidFill>
          <a:ln/>
        </p:spPr>
      </p:sp>
      <p:pic>
        <p:nvPicPr>
          <p:cNvPr id="25" name="Image 2" descr="Check mark">    </p:cNvPr>
          <p:cNvPicPr>
            <a:picLocks noChangeAspect="1"/>
          </p:cNvPicPr>
          <p:nvPr/>
        </p:nvPicPr>
        <p:blipFill>
          <a:blip r:embed="rId3"/>
          <a:stretch>
            <a:fillRect/>
          </a:stretch>
        </p:blipFill>
        <p:spPr>
          <a:xfrm>
            <a:off x="822960" y="4636008"/>
            <a:ext cx="201168" cy="201168"/>
          </a:xfrm>
          <a:prstGeom prst="rect">
            <a:avLst/>
          </a:prstGeom>
        </p:spPr>
      </p:pic>
      <p:sp>
        <p:nvSpPr>
          <p:cNvPr id="26" name="Done item 3"/>
          <p:cNvSpPr txBox="1"/>
          <p:nvPr/>
        </p:nvSpPr>
        <p:spPr>
          <a:xfrm>
            <a:off x="1234440" y="4562856"/>
            <a:ext cx="3749040" cy="347472"/>
          </a:xfrm>
          <a:prstGeom prst="rect">
            <a:avLst/>
          </a:prstGeom>
          <a:noFill/>
          <a:ln/>
        </p:spPr>
        <p:txBody>
          <a:bodyPr wrap="square" lIns="0" tIns="0" rIns="0" bIns="0" rtlCol="0" anchor="ctr"/>
          <a:lstStyle/>
          <a:p>
            <a:pPr indent="0" marL="0">
              <a:buNone/>
            </a:pPr>
            <a:r>
              <a:rPr lang="en-US" sz="1400" dirty="0">
                <a:solidFill>
                  <a:schemeClr val="tx1"/>
                </a:solidFill>
              </a:rPr>
              <a:t>Dates converted to date type</a:t>
            </a:r>
            <a:endParaRPr lang="en-US" sz="1400" dirty="0"/>
          </a:p>
        </p:txBody>
      </p:sp>
      <p:sp>
        <p:nvSpPr>
          <p:cNvPr id="27" name="Check badge 4"/>
          <p:cNvSpPr/>
          <p:nvPr/>
        </p:nvSpPr>
        <p:spPr>
          <a:xfrm>
            <a:off x="777240" y="5065776"/>
            <a:ext cx="292608" cy="292608"/>
          </a:xfrm>
          <a:prstGeom prst="ellipse">
            <a:avLst/>
          </a:prstGeom>
          <a:solidFill>
            <a:schemeClr val="accent1"/>
          </a:solidFill>
          <a:ln/>
        </p:spPr>
      </p:sp>
      <p:pic>
        <p:nvPicPr>
          <p:cNvPr id="28" name="Image 3" descr="Check mark">    </p:cNvPr>
          <p:cNvPicPr>
            <a:picLocks noChangeAspect="1"/>
          </p:cNvPicPr>
          <p:nvPr/>
        </p:nvPicPr>
        <p:blipFill>
          <a:blip r:embed="rId4"/>
          <a:stretch>
            <a:fillRect/>
          </a:stretch>
        </p:blipFill>
        <p:spPr>
          <a:xfrm>
            <a:off x="822960" y="5111496"/>
            <a:ext cx="201168" cy="201168"/>
          </a:xfrm>
          <a:prstGeom prst="rect">
            <a:avLst/>
          </a:prstGeom>
        </p:spPr>
      </p:pic>
      <p:sp>
        <p:nvSpPr>
          <p:cNvPr id="29" name="Done item 4"/>
          <p:cNvSpPr txBox="1"/>
          <p:nvPr/>
        </p:nvSpPr>
        <p:spPr>
          <a:xfrm>
            <a:off x="1234440" y="5038344"/>
            <a:ext cx="3749040" cy="347472"/>
          </a:xfrm>
          <a:prstGeom prst="rect">
            <a:avLst/>
          </a:prstGeom>
          <a:noFill/>
          <a:ln/>
        </p:spPr>
        <p:txBody>
          <a:bodyPr wrap="square" lIns="0" tIns="0" rIns="0" bIns="0" rtlCol="0" anchor="ctr"/>
          <a:lstStyle/>
          <a:p>
            <a:pPr indent="0" marL="0">
              <a:buNone/>
            </a:pPr>
            <a:r>
              <a:rPr lang="en-US" sz="1400" dirty="0">
                <a:solidFill>
                  <a:schemeClr val="tx1"/>
                </a:solidFill>
              </a:rPr>
              <a:t>Rows ordered by Row ID</a:t>
            </a:r>
            <a:endParaRPr lang="en-US" sz="1400" dirty="0"/>
          </a:p>
        </p:txBody>
      </p:sp>
      <p:sp>
        <p:nvSpPr>
          <p:cNvPr id="30" name="Check badge 5"/>
          <p:cNvSpPr/>
          <p:nvPr/>
        </p:nvSpPr>
        <p:spPr>
          <a:xfrm>
            <a:off x="777240" y="5541264"/>
            <a:ext cx="292608" cy="292608"/>
          </a:xfrm>
          <a:prstGeom prst="ellipse">
            <a:avLst/>
          </a:prstGeom>
          <a:solidFill>
            <a:schemeClr val="accent1"/>
          </a:solidFill>
          <a:ln/>
        </p:spPr>
      </p:sp>
      <p:pic>
        <p:nvPicPr>
          <p:cNvPr id="31" name="Image 4" descr="Check mark">    </p:cNvPr>
          <p:cNvPicPr>
            <a:picLocks noChangeAspect="1"/>
          </p:cNvPicPr>
          <p:nvPr/>
        </p:nvPicPr>
        <p:blipFill>
          <a:blip r:embed="rId5"/>
          <a:stretch>
            <a:fillRect/>
          </a:stretch>
        </p:blipFill>
        <p:spPr>
          <a:xfrm>
            <a:off x="822960" y="5586984"/>
            <a:ext cx="201168" cy="201168"/>
          </a:xfrm>
          <a:prstGeom prst="rect">
            <a:avLst/>
          </a:prstGeom>
        </p:spPr>
      </p:pic>
      <p:sp>
        <p:nvSpPr>
          <p:cNvPr id="32" name="Done item 5"/>
          <p:cNvSpPr txBox="1"/>
          <p:nvPr/>
        </p:nvSpPr>
        <p:spPr>
          <a:xfrm>
            <a:off x="1234440" y="5513832"/>
            <a:ext cx="3749040" cy="347472"/>
          </a:xfrm>
          <a:prstGeom prst="rect">
            <a:avLst/>
          </a:prstGeom>
          <a:noFill/>
          <a:ln/>
        </p:spPr>
        <p:txBody>
          <a:bodyPr wrap="square" lIns="0" tIns="0" rIns="0" bIns="0" rtlCol="0" anchor="ctr"/>
          <a:lstStyle/>
          <a:p>
            <a:pPr indent="0" marL="0">
              <a:buNone/>
            </a:pPr>
            <a:r>
              <a:rPr lang="en-US" sz="1400" dirty="0">
                <a:solidFill>
                  <a:schemeClr val="tx1"/>
                </a:solidFill>
              </a:rPr>
              <a:t>Exported as Superstore_Cleaned.csv</a:t>
            </a:r>
            <a:endParaRPr lang="en-US" sz="1400" dirty="0"/>
          </a:p>
        </p:txBody>
      </p:sp>
      <p:sp>
        <p:nvSpPr>
          <p:cNvPr id="201" name="Before after card"/>
          <p:cNvSpPr/>
          <p:nvPr/>
        </p:nvSpPr>
        <p:spPr>
          <a:xfrm>
            <a:off x="5349240" y="2926080"/>
            <a:ext cx="6291072" cy="3200400"/>
          </a:xfrm>
          <a:prstGeom prst="roundRect">
            <a:avLst>
              <a:gd name="adj" fmla="val 3000"/>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202" name="Before after heading"/>
          <p:cNvSpPr txBox="1"/>
          <p:nvPr/>
        </p:nvSpPr>
        <p:spPr>
          <a:xfrm>
            <a:off x="5577840" y="3063240"/>
            <a:ext cx="5852160"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Before vs after cleaning</a:t>
            </a:r>
            <a:endParaRPr lang="en-US" sz="1600" dirty="0"/>
          </a:p>
        </p:txBody>
      </p:sp>
      <p:sp>
        <p:nvSpPr>
          <p:cNvPr id="203" name="Col head before"/>
          <p:cNvSpPr txBox="1"/>
          <p:nvPr/>
        </p:nvSpPr>
        <p:spPr>
          <a:xfrm>
            <a:off x="7863840" y="3566160"/>
            <a:ext cx="1645920" cy="274320"/>
          </a:xfrm>
          <a:prstGeom prst="rect">
            <a:avLst/>
          </a:prstGeom>
          <a:noFill/>
          <a:ln/>
        </p:spPr>
        <p:txBody>
          <a:bodyPr wrap="square" lIns="0" tIns="0" rIns="0" bIns="0" rtlCol="0" anchor="ctr"/>
          <a:lstStyle/>
          <a:p>
            <a:pPr indent="0" marL="0">
              <a:buNone/>
            </a:pPr>
            <a:r>
              <a:rPr lang="en-US" sz="1100" b="1" dirty="0">
                <a:solidFill>
                  <a:schemeClr val="accent6"/>
                </a:solidFill>
              </a:rPr>
              <a:t>RAW FILE</a:t>
            </a:r>
            <a:endParaRPr lang="en-US" sz="1100" dirty="0"/>
          </a:p>
        </p:txBody>
      </p:sp>
      <p:sp>
        <p:nvSpPr>
          <p:cNvPr id="204" name="Col head after"/>
          <p:cNvSpPr txBox="1"/>
          <p:nvPr/>
        </p:nvSpPr>
        <p:spPr>
          <a:xfrm>
            <a:off x="9921240" y="3566160"/>
            <a:ext cx="1554480" cy="274320"/>
          </a:xfrm>
          <a:prstGeom prst="rect">
            <a:avLst/>
          </a:prstGeom>
          <a:noFill/>
          <a:ln/>
        </p:spPr>
        <p:txBody>
          <a:bodyPr wrap="square" lIns="0" tIns="0" rIns="0" bIns="0" rtlCol="0" anchor="ctr"/>
          <a:lstStyle/>
          <a:p>
            <a:pPr indent="0" marL="0">
              <a:buNone/>
            </a:pPr>
            <a:r>
              <a:rPr lang="en-US" sz="1100" b="1" dirty="0">
                <a:solidFill>
                  <a:schemeClr val="accent6"/>
                </a:solidFill>
              </a:rPr>
              <a:t>CLEAN FILE</a:t>
            </a:r>
            <a:endParaRPr lang="en-US" sz="1100" dirty="0"/>
          </a:p>
        </p:txBody>
      </p:sp>
      <p:sp>
        <p:nvSpPr>
          <p:cNvPr id="205" name="BA label 1"/>
          <p:cNvSpPr txBox="1"/>
          <p:nvPr/>
        </p:nvSpPr>
        <p:spPr>
          <a:xfrm>
            <a:off x="5577840" y="3931920"/>
            <a:ext cx="2194560" cy="411480"/>
          </a:xfrm>
          <a:prstGeom prst="rect">
            <a:avLst/>
          </a:prstGeom>
          <a:noFill/>
          <a:ln/>
        </p:spPr>
        <p:txBody>
          <a:bodyPr wrap="square" lIns="0" tIns="0" rIns="0" bIns="0" rtlCol="0" anchor="ctr"/>
          <a:lstStyle/>
          <a:p>
            <a:pPr indent="0" marL="0">
              <a:buNone/>
            </a:pPr>
            <a:r>
              <a:rPr lang="en-US" sz="1400" b="1" dirty="0">
                <a:solidFill>
                  <a:schemeClr val="tx1"/>
                </a:solidFill>
              </a:rPr>
              <a:t>Rows</a:t>
            </a:r>
            <a:endParaRPr lang="en-US" sz="1400" dirty="0"/>
          </a:p>
        </p:txBody>
      </p:sp>
      <p:sp>
        <p:nvSpPr>
          <p:cNvPr id="206" name="BA before 1"/>
          <p:cNvSpPr txBox="1"/>
          <p:nvPr/>
        </p:nvSpPr>
        <p:spPr>
          <a:xfrm>
            <a:off x="7863840" y="3931920"/>
            <a:ext cx="1645920" cy="411480"/>
          </a:xfrm>
          <a:prstGeom prst="rect">
            <a:avLst/>
          </a:prstGeom>
          <a:noFill/>
          <a:ln/>
        </p:spPr>
        <p:txBody>
          <a:bodyPr wrap="square" lIns="0" tIns="0" rIns="0" bIns="0" rtlCol="0" anchor="ctr"/>
          <a:lstStyle/>
          <a:p>
            <a:pPr indent="0" marL="0">
              <a:buNone/>
            </a:pPr>
            <a:r>
              <a:rPr lang="en-US" sz="1400" b="1" dirty="0">
                <a:solidFill>
                  <a:schemeClr val="accent3"/>
                </a:solidFill>
              </a:rPr>
              <a:t>9,994</a:t>
            </a:r>
            <a:endParaRPr lang="en-US" sz="1400" dirty="0"/>
          </a:p>
        </p:txBody>
      </p:sp>
      <p:sp>
        <p:nvSpPr>
          <p:cNvPr id="207" name="BA arrow 1"/>
          <p:cNvSpPr txBox="1"/>
          <p:nvPr/>
        </p:nvSpPr>
        <p:spPr>
          <a:xfrm>
            <a:off x="9509760" y="3931920"/>
            <a:ext cx="365760" cy="411480"/>
          </a:xfrm>
          <a:prstGeom prst="rect">
            <a:avLst/>
          </a:prstGeom>
          <a:noFill/>
          <a:ln/>
        </p:spPr>
        <p:txBody>
          <a:bodyPr wrap="square" lIns="0" tIns="0" rIns="0" bIns="0" rtlCol="0" anchor="ctr"/>
          <a:lstStyle/>
          <a:p>
            <a:pPr indent="0" marL="0">
              <a:buNone/>
            </a:pPr>
            <a:r>
              <a:rPr lang="en-US" sz="1400" dirty="0">
                <a:solidFill>
                  <a:schemeClr val="accent6"/>
                </a:solidFill>
              </a:rPr>
              <a:t>→</a:t>
            </a:r>
            <a:endParaRPr lang="en-US" sz="1400" dirty="0"/>
          </a:p>
        </p:txBody>
      </p:sp>
      <p:sp>
        <p:nvSpPr>
          <p:cNvPr id="208" name="BA after 1"/>
          <p:cNvSpPr txBox="1"/>
          <p:nvPr/>
        </p:nvSpPr>
        <p:spPr>
          <a:xfrm>
            <a:off x="9921240" y="3931920"/>
            <a:ext cx="1554480" cy="411480"/>
          </a:xfrm>
          <a:prstGeom prst="rect">
            <a:avLst/>
          </a:prstGeom>
          <a:noFill/>
          <a:ln/>
        </p:spPr>
        <p:txBody>
          <a:bodyPr wrap="square" lIns="0" tIns="0" rIns="0" bIns="0" rtlCol="0" anchor="ctr"/>
          <a:lstStyle/>
          <a:p>
            <a:pPr indent="0" marL="0">
              <a:buNone/>
            </a:pPr>
            <a:r>
              <a:rPr lang="en-US" sz="1400" b="1" dirty="0">
                <a:solidFill>
                  <a:schemeClr val="accent1"/>
                </a:solidFill>
              </a:rPr>
              <a:t>9,993</a:t>
            </a:r>
            <a:endParaRPr lang="en-US" sz="1400" dirty="0"/>
          </a:p>
        </p:txBody>
      </p:sp>
      <p:sp>
        <p:nvSpPr>
          <p:cNvPr id="209" name="BA label 2"/>
          <p:cNvSpPr txBox="1"/>
          <p:nvPr/>
        </p:nvSpPr>
        <p:spPr>
          <a:xfrm>
            <a:off x="5577840" y="4462272"/>
            <a:ext cx="2194560" cy="411480"/>
          </a:xfrm>
          <a:prstGeom prst="rect">
            <a:avLst/>
          </a:prstGeom>
          <a:noFill/>
          <a:ln/>
        </p:spPr>
        <p:txBody>
          <a:bodyPr wrap="square" lIns="0" tIns="0" rIns="0" bIns="0" rtlCol="0" anchor="ctr"/>
          <a:lstStyle/>
          <a:p>
            <a:pPr indent="0" marL="0">
              <a:buNone/>
            </a:pPr>
            <a:r>
              <a:rPr lang="en-US" sz="1400" b="1" dirty="0">
                <a:solidFill>
                  <a:schemeClr val="tx1"/>
                </a:solidFill>
              </a:rPr>
              <a:t>Missing postal codes</a:t>
            </a:r>
            <a:endParaRPr lang="en-US" sz="1400" dirty="0"/>
          </a:p>
        </p:txBody>
      </p:sp>
      <p:sp>
        <p:nvSpPr>
          <p:cNvPr id="210" name="BA before 2"/>
          <p:cNvSpPr txBox="1"/>
          <p:nvPr/>
        </p:nvSpPr>
        <p:spPr>
          <a:xfrm>
            <a:off x="7863840" y="4462272"/>
            <a:ext cx="1645920" cy="411480"/>
          </a:xfrm>
          <a:prstGeom prst="rect">
            <a:avLst/>
          </a:prstGeom>
          <a:noFill/>
          <a:ln/>
        </p:spPr>
        <p:txBody>
          <a:bodyPr wrap="square" lIns="0" tIns="0" rIns="0" bIns="0" rtlCol="0" anchor="ctr"/>
          <a:lstStyle/>
          <a:p>
            <a:pPr indent="0" marL="0">
              <a:buNone/>
            </a:pPr>
            <a:r>
              <a:rPr lang="en-US" sz="1400" b="1" dirty="0">
                <a:solidFill>
                  <a:schemeClr val="accent3"/>
                </a:solidFill>
              </a:rPr>
              <a:t>11</a:t>
            </a:r>
            <a:endParaRPr lang="en-US" sz="1400" dirty="0"/>
          </a:p>
        </p:txBody>
      </p:sp>
      <p:sp>
        <p:nvSpPr>
          <p:cNvPr id="211" name="BA arrow 2"/>
          <p:cNvSpPr txBox="1"/>
          <p:nvPr/>
        </p:nvSpPr>
        <p:spPr>
          <a:xfrm>
            <a:off x="9509760" y="4462272"/>
            <a:ext cx="365760" cy="411480"/>
          </a:xfrm>
          <a:prstGeom prst="rect">
            <a:avLst/>
          </a:prstGeom>
          <a:noFill/>
          <a:ln/>
        </p:spPr>
        <p:txBody>
          <a:bodyPr wrap="square" lIns="0" tIns="0" rIns="0" bIns="0" rtlCol="0" anchor="ctr"/>
          <a:lstStyle/>
          <a:p>
            <a:pPr indent="0" marL="0">
              <a:buNone/>
            </a:pPr>
            <a:r>
              <a:rPr lang="en-US" sz="1400" dirty="0">
                <a:solidFill>
                  <a:schemeClr val="accent6"/>
                </a:solidFill>
              </a:rPr>
              <a:t>→</a:t>
            </a:r>
            <a:endParaRPr lang="en-US" sz="1400" dirty="0"/>
          </a:p>
        </p:txBody>
      </p:sp>
      <p:sp>
        <p:nvSpPr>
          <p:cNvPr id="212" name="BA after 2"/>
          <p:cNvSpPr txBox="1"/>
          <p:nvPr/>
        </p:nvSpPr>
        <p:spPr>
          <a:xfrm>
            <a:off x="9921240" y="4462272"/>
            <a:ext cx="1554480" cy="411480"/>
          </a:xfrm>
          <a:prstGeom prst="rect">
            <a:avLst/>
          </a:prstGeom>
          <a:noFill/>
          <a:ln/>
        </p:spPr>
        <p:txBody>
          <a:bodyPr wrap="square" lIns="0" tIns="0" rIns="0" bIns="0" rtlCol="0" anchor="ctr"/>
          <a:lstStyle/>
          <a:p>
            <a:pPr indent="0" marL="0">
              <a:buNone/>
            </a:pPr>
            <a:r>
              <a:rPr lang="en-US" sz="1400" b="1" dirty="0">
                <a:solidFill>
                  <a:schemeClr val="accent1"/>
                </a:solidFill>
              </a:rPr>
              <a:t>0</a:t>
            </a:r>
            <a:endParaRPr lang="en-US" sz="1400" dirty="0"/>
          </a:p>
        </p:txBody>
      </p:sp>
      <p:sp>
        <p:nvSpPr>
          <p:cNvPr id="213" name="BA label 3"/>
          <p:cNvSpPr txBox="1"/>
          <p:nvPr/>
        </p:nvSpPr>
        <p:spPr>
          <a:xfrm>
            <a:off x="5577840" y="4992624"/>
            <a:ext cx="2194560" cy="411480"/>
          </a:xfrm>
          <a:prstGeom prst="rect">
            <a:avLst/>
          </a:prstGeom>
          <a:noFill/>
          <a:ln/>
        </p:spPr>
        <p:txBody>
          <a:bodyPr wrap="square" lIns="0" tIns="0" rIns="0" bIns="0" rtlCol="0" anchor="ctr"/>
          <a:lstStyle/>
          <a:p>
            <a:pPr indent="0" marL="0">
              <a:buNone/>
            </a:pPr>
            <a:r>
              <a:rPr lang="en-US" sz="1400" b="1" dirty="0">
                <a:solidFill>
                  <a:schemeClr val="tx1"/>
                </a:solidFill>
              </a:rPr>
              <a:t>Order and Ship Date</a:t>
            </a:r>
            <a:endParaRPr lang="en-US" sz="1400" dirty="0"/>
          </a:p>
        </p:txBody>
      </p:sp>
      <p:sp>
        <p:nvSpPr>
          <p:cNvPr id="214" name="BA before 3"/>
          <p:cNvSpPr txBox="1"/>
          <p:nvPr/>
        </p:nvSpPr>
        <p:spPr>
          <a:xfrm>
            <a:off x="7863840" y="4992624"/>
            <a:ext cx="1645920" cy="411480"/>
          </a:xfrm>
          <a:prstGeom prst="rect">
            <a:avLst/>
          </a:prstGeom>
          <a:noFill/>
          <a:ln/>
        </p:spPr>
        <p:txBody>
          <a:bodyPr wrap="square" lIns="0" tIns="0" rIns="0" bIns="0" rtlCol="0" anchor="ctr"/>
          <a:lstStyle/>
          <a:p>
            <a:pPr indent="0" marL="0">
              <a:buNone/>
            </a:pPr>
            <a:r>
              <a:rPr lang="en-US" sz="1400" b="1" dirty="0">
                <a:solidFill>
                  <a:schemeClr val="accent3"/>
                </a:solidFill>
              </a:rPr>
              <a:t>Text</a:t>
            </a:r>
            <a:endParaRPr lang="en-US" sz="1400" dirty="0"/>
          </a:p>
        </p:txBody>
      </p:sp>
      <p:sp>
        <p:nvSpPr>
          <p:cNvPr id="215" name="BA arrow 3"/>
          <p:cNvSpPr txBox="1"/>
          <p:nvPr/>
        </p:nvSpPr>
        <p:spPr>
          <a:xfrm>
            <a:off x="9509760" y="4992624"/>
            <a:ext cx="365760" cy="411480"/>
          </a:xfrm>
          <a:prstGeom prst="rect">
            <a:avLst/>
          </a:prstGeom>
          <a:noFill/>
          <a:ln/>
        </p:spPr>
        <p:txBody>
          <a:bodyPr wrap="square" lIns="0" tIns="0" rIns="0" bIns="0" rtlCol="0" anchor="ctr"/>
          <a:lstStyle/>
          <a:p>
            <a:pPr indent="0" marL="0">
              <a:buNone/>
            </a:pPr>
            <a:r>
              <a:rPr lang="en-US" sz="1400" dirty="0">
                <a:solidFill>
                  <a:schemeClr val="accent6"/>
                </a:solidFill>
              </a:rPr>
              <a:t>→</a:t>
            </a:r>
            <a:endParaRPr lang="en-US" sz="1400" dirty="0"/>
          </a:p>
        </p:txBody>
      </p:sp>
      <p:sp>
        <p:nvSpPr>
          <p:cNvPr id="216" name="BA after 3"/>
          <p:cNvSpPr txBox="1"/>
          <p:nvPr/>
        </p:nvSpPr>
        <p:spPr>
          <a:xfrm>
            <a:off x="9921240" y="4992624"/>
            <a:ext cx="1554480" cy="411480"/>
          </a:xfrm>
          <a:prstGeom prst="rect">
            <a:avLst/>
          </a:prstGeom>
          <a:noFill/>
          <a:ln/>
        </p:spPr>
        <p:txBody>
          <a:bodyPr wrap="square" lIns="0" tIns="0" rIns="0" bIns="0" rtlCol="0" anchor="ctr"/>
          <a:lstStyle/>
          <a:p>
            <a:pPr indent="0" marL="0">
              <a:buNone/>
            </a:pPr>
            <a:r>
              <a:rPr lang="en-US" sz="1400" b="1" dirty="0">
                <a:solidFill>
                  <a:schemeClr val="accent1"/>
                </a:solidFill>
              </a:rPr>
              <a:t>Date type</a:t>
            </a:r>
            <a:endParaRPr lang="en-US" sz="1400" dirty="0"/>
          </a:p>
        </p:txBody>
      </p:sp>
      <p:sp>
        <p:nvSpPr>
          <p:cNvPr id="217" name="BA label 4"/>
          <p:cNvSpPr txBox="1"/>
          <p:nvPr/>
        </p:nvSpPr>
        <p:spPr>
          <a:xfrm>
            <a:off x="5577840" y="5522976"/>
            <a:ext cx="2194560" cy="411480"/>
          </a:xfrm>
          <a:prstGeom prst="rect">
            <a:avLst/>
          </a:prstGeom>
          <a:noFill/>
          <a:ln/>
        </p:spPr>
        <p:txBody>
          <a:bodyPr wrap="square" lIns="0" tIns="0" rIns="0" bIns="0" rtlCol="0" anchor="ctr"/>
          <a:lstStyle/>
          <a:p>
            <a:pPr indent="0" marL="0">
              <a:buNone/>
            </a:pPr>
            <a:r>
              <a:rPr lang="en-US" sz="1400" b="1" dirty="0">
                <a:solidFill>
                  <a:schemeClr val="tx1"/>
                </a:solidFill>
              </a:rPr>
              <a:t>Row order</a:t>
            </a:r>
            <a:endParaRPr lang="en-US" sz="1400" dirty="0"/>
          </a:p>
        </p:txBody>
      </p:sp>
      <p:sp>
        <p:nvSpPr>
          <p:cNvPr id="218" name="BA before 4"/>
          <p:cNvSpPr txBox="1"/>
          <p:nvPr/>
        </p:nvSpPr>
        <p:spPr>
          <a:xfrm>
            <a:off x="7863840" y="5522976"/>
            <a:ext cx="1645920" cy="411480"/>
          </a:xfrm>
          <a:prstGeom prst="rect">
            <a:avLst/>
          </a:prstGeom>
          <a:noFill/>
          <a:ln/>
        </p:spPr>
        <p:txBody>
          <a:bodyPr wrap="square" lIns="0" tIns="0" rIns="0" bIns="0" rtlCol="0" anchor="ctr"/>
          <a:lstStyle/>
          <a:p>
            <a:pPr indent="0" marL="0">
              <a:buNone/>
            </a:pPr>
            <a:r>
              <a:rPr lang="en-US" sz="1400" b="1" dirty="0">
                <a:solidFill>
                  <a:schemeClr val="accent3"/>
                </a:solidFill>
              </a:rPr>
              <a:t>Unordered</a:t>
            </a:r>
            <a:endParaRPr lang="en-US" sz="1400" dirty="0"/>
          </a:p>
        </p:txBody>
      </p:sp>
      <p:sp>
        <p:nvSpPr>
          <p:cNvPr id="219" name="BA arrow 4"/>
          <p:cNvSpPr txBox="1"/>
          <p:nvPr/>
        </p:nvSpPr>
        <p:spPr>
          <a:xfrm>
            <a:off x="9509760" y="5522976"/>
            <a:ext cx="365760" cy="411480"/>
          </a:xfrm>
          <a:prstGeom prst="rect">
            <a:avLst/>
          </a:prstGeom>
          <a:noFill/>
          <a:ln/>
        </p:spPr>
        <p:txBody>
          <a:bodyPr wrap="square" lIns="0" tIns="0" rIns="0" bIns="0" rtlCol="0" anchor="ctr"/>
          <a:lstStyle/>
          <a:p>
            <a:pPr indent="0" marL="0">
              <a:buNone/>
            </a:pPr>
            <a:r>
              <a:rPr lang="en-US" sz="1400" dirty="0">
                <a:solidFill>
                  <a:schemeClr val="accent6"/>
                </a:solidFill>
              </a:rPr>
              <a:t>→</a:t>
            </a:r>
            <a:endParaRPr lang="en-US" sz="1400" dirty="0"/>
          </a:p>
        </p:txBody>
      </p:sp>
      <p:sp>
        <p:nvSpPr>
          <p:cNvPr id="220" name="BA after 4"/>
          <p:cNvSpPr txBox="1"/>
          <p:nvPr/>
        </p:nvSpPr>
        <p:spPr>
          <a:xfrm>
            <a:off x="9921240" y="5522976"/>
            <a:ext cx="1554480" cy="411480"/>
          </a:xfrm>
          <a:prstGeom prst="rect">
            <a:avLst/>
          </a:prstGeom>
          <a:noFill/>
          <a:ln/>
        </p:spPr>
        <p:txBody>
          <a:bodyPr wrap="square" lIns="0" tIns="0" rIns="0" bIns="0" rtlCol="0" anchor="ctr"/>
          <a:lstStyle/>
          <a:p>
            <a:pPr indent="0" marL="0">
              <a:buNone/>
            </a:pPr>
            <a:r>
              <a:rPr lang="en-US" sz="1400" b="1" dirty="0">
                <a:solidFill>
                  <a:schemeClr val="accent1"/>
                </a:solidFill>
              </a:rPr>
              <a:t>By Row ID</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100" b="1" spc="300" kern="0" dirty="0">
                <a:solidFill>
                  <a:schemeClr val="accent1"/>
                </a:solidFill>
              </a:rPr>
              <a:t>04  ·  POWER BI  ·  INTERACTIVE DASHBOARD</a:t>
            </a:r>
            <a:endParaRPr lang="en-US" sz="1100" dirty="0"/>
          </a:p>
        </p:txBody>
      </p:sp>
      <p:sp>
        <p:nvSpPr>
          <p:cNvPr id="3" name="Text 0"/>
          <p:cNvSpPr/>
          <p:nvPr>
            <p:ph idx="100" type="title" hasCustomPrompt="1"/>
          </p:nvPr>
        </p:nvSpPr>
        <p:spPr>
          <a:xfrm>
            <a:off x="548640" y="566928"/>
            <a:ext cx="4846320" cy="731520"/>
          </a:xfrm>
          <a:prstGeom prst="rect">
            <a:avLst/>
          </a:prstGeom>
          <a:noFill/>
          <a:ln/>
        </p:spPr>
        <p:txBody>
          <a:bodyPr wrap="square" lIns="0" tIns="0" rIns="0" bIns="0" rtlCol="0" anchor="ctr"/>
          <a:lstStyle/>
          <a:p>
            <a:pPr algn="l" indent="0" marL="0">
              <a:buNone/>
            </a:pPr>
            <a:r>
              <a:rPr lang="en-US" sz="3400" b="1" dirty="0">
                <a:solidFill>
                  <a:schemeClr val="tx1"/>
                </a:solidFill>
              </a:rPr>
              <a:t>Executive Overview</a:t>
            </a:r>
            <a:endParaRPr lang="en-US" sz="3400" dirty="0"/>
          </a:p>
        </p:txBody>
      </p:sp>
      <p:sp>
        <p:nvSpPr>
          <p:cNvPr id="4" name="Tab Executive Overview">
            <a:hlinkClick r:id="rId1" tooltip="Go to Executive Overview" action="ppaction://hlinksldjump"/>
          </p:cNvPr>
          <p:cNvSpPr/>
          <p:nvPr/>
        </p:nvSpPr>
        <p:spPr>
          <a:xfrm>
            <a:off x="5559552" y="640080"/>
            <a:ext cx="1965960" cy="402336"/>
          </a:xfrm>
          <a:prstGeom prst="roundRect">
            <a:avLst>
              <a:gd name="adj" fmla="val 45455"/>
            </a:avLst>
          </a:prstGeom>
          <a:solidFill>
            <a:schemeClr val="accent1"/>
          </a:solidFill>
          <a:ln w="9525">
            <a:solidFill>
              <a:srgbClr val="2F6F73"/>
            </a:solidFill>
            <a:prstDash val="solid"/>
          </a:ln>
        </p:spPr>
      </p:sp>
      <p:sp>
        <p:nvSpPr>
          <p:cNvPr id="5" name="Tab label Executive Overview"/>
          <p:cNvSpPr txBox="1"/>
          <p:nvPr/>
        </p:nvSpPr>
        <p:spPr>
          <a:xfrm>
            <a:off x="5559552" y="640080"/>
            <a:ext cx="1965960" cy="402336"/>
          </a:xfrm>
          <a:prstGeom prst="rect">
            <a:avLst/>
          </a:prstGeom>
          <a:noFill/>
          <a:ln/>
        </p:spPr>
        <p:txBody>
          <a:bodyPr wrap="square" lIns="0" tIns="0" rIns="0" bIns="0" rtlCol="0" anchor="ctr"/>
          <a:lstStyle/>
          <a:p>
            <a:pPr algn="ctr" indent="0" marL="0">
              <a:buNone/>
            </a:pPr>
            <a:r>
              <a:rPr lang="en-US" sz="1200" b="1" dirty="0">
                <a:solidFill>
                  <a:schemeClr val="bg1"/>
                </a:solidFill>
              </a:rPr>
              <a:t>Executive Overview</a:t>
            </a:r>
            <a:endParaRPr lang="en-US" sz="1200" dirty="0"/>
          </a:p>
        </p:txBody>
      </p:sp>
      <p:sp>
        <p:nvSpPr>
          <p:cNvPr id="6" name="Tab Product Analysis">
            <a:hlinkClick r:id="rId2" tooltip="Go to Product Analysis" action="ppaction://hlinksldjump"/>
          </p:cNvPr>
          <p:cNvSpPr/>
          <p:nvPr/>
        </p:nvSpPr>
        <p:spPr>
          <a:xfrm>
            <a:off x="7616952" y="640080"/>
            <a:ext cx="1965960" cy="402336"/>
          </a:xfrm>
          <a:prstGeom prst="roundRect">
            <a:avLst>
              <a:gd name="adj" fmla="val 45455"/>
            </a:avLst>
          </a:prstGeom>
          <a:solidFill>
            <a:schemeClr val="bg1"/>
          </a:solidFill>
          <a:ln w="9525">
            <a:solidFill>
              <a:srgbClr val="DDE5E8"/>
            </a:solidFill>
            <a:prstDash val="solid"/>
          </a:ln>
        </p:spPr>
      </p:sp>
      <p:sp>
        <p:nvSpPr>
          <p:cNvPr id="7" name="Tab label Product Analysis"/>
          <p:cNvSpPr txBox="1"/>
          <p:nvPr/>
        </p:nvSpPr>
        <p:spPr>
          <a:xfrm>
            <a:off x="7616952" y="640080"/>
            <a:ext cx="1965960" cy="402336"/>
          </a:xfrm>
          <a:prstGeom prst="rect">
            <a:avLst/>
          </a:prstGeom>
          <a:noFill/>
          <a:ln/>
        </p:spPr>
        <p:txBody>
          <a:bodyPr wrap="square" lIns="0" tIns="0" rIns="0" bIns="0" rtlCol="0" anchor="ctr"/>
          <a:lstStyle/>
          <a:p>
            <a:pPr algn="ctr" indent="0" marL="0">
              <a:buNone/>
            </a:pPr>
            <a:r>
              <a:rPr lang="en-US" sz="1200" b="1" dirty="0">
                <a:solidFill>
                  <a:schemeClr val="accent1"/>
                </a:solidFill>
              </a:rPr>
              <a:t>Product Analysis</a:t>
            </a:r>
            <a:endParaRPr lang="en-US" sz="1200" dirty="0"/>
          </a:p>
        </p:txBody>
      </p:sp>
      <p:sp>
        <p:nvSpPr>
          <p:cNvPr id="8" name="Tab Customers &amp; Shipping">
            <a:hlinkClick r:id="rId3" tooltip="Go to Customers &amp; Shipping" action="ppaction://hlinksldjump"/>
          </p:cNvPr>
          <p:cNvSpPr/>
          <p:nvPr/>
        </p:nvSpPr>
        <p:spPr>
          <a:xfrm>
            <a:off x="9674352" y="640080"/>
            <a:ext cx="1965960" cy="402336"/>
          </a:xfrm>
          <a:prstGeom prst="roundRect">
            <a:avLst>
              <a:gd name="adj" fmla="val 45455"/>
            </a:avLst>
          </a:prstGeom>
          <a:solidFill>
            <a:schemeClr val="bg1"/>
          </a:solidFill>
          <a:ln w="9525">
            <a:solidFill>
              <a:srgbClr val="DDE5E8"/>
            </a:solidFill>
            <a:prstDash val="solid"/>
          </a:ln>
        </p:spPr>
      </p:sp>
      <p:sp>
        <p:nvSpPr>
          <p:cNvPr id="9" name="Tab label Customers &amp; Shipping"/>
          <p:cNvSpPr txBox="1"/>
          <p:nvPr/>
        </p:nvSpPr>
        <p:spPr>
          <a:xfrm>
            <a:off x="9674352" y="640080"/>
            <a:ext cx="1965960" cy="402336"/>
          </a:xfrm>
          <a:prstGeom prst="rect">
            <a:avLst/>
          </a:prstGeom>
          <a:noFill/>
          <a:ln/>
        </p:spPr>
        <p:txBody>
          <a:bodyPr wrap="square" lIns="0" tIns="0" rIns="0" bIns="0" rtlCol="0" anchor="ctr"/>
          <a:lstStyle/>
          <a:p>
            <a:pPr algn="ctr" indent="0" marL="0">
              <a:buNone/>
            </a:pPr>
            <a:r>
              <a:rPr lang="en-US" sz="1200" b="1" dirty="0">
                <a:solidFill>
                  <a:schemeClr val="accent1"/>
                </a:solidFill>
              </a:rPr>
              <a:t>Customers &amp; Shipping</a:t>
            </a:r>
            <a:endParaRPr lang="en-US" sz="1200" dirty="0"/>
          </a:p>
        </p:txBody>
      </p:sp>
      <p:sp>
        <p:nvSpPr>
          <p:cNvPr id="10" name="Screenshot frame"/>
          <p:cNvSpPr/>
          <p:nvPr/>
        </p:nvSpPr>
        <p:spPr>
          <a:xfrm>
            <a:off x="548640" y="1463040"/>
            <a:ext cx="7772400" cy="4435754"/>
          </a:xfrm>
          <a:prstGeom prst="roundRect">
            <a:avLst>
              <a:gd name="adj" fmla="val 1493"/>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pic>
        <p:nvPicPr>
          <p:cNvPr id="11" name="Dashboard screenshot" descr="Power BI dashboard, Executive Overview page"/>
          <p:cNvPicPr>
            <a:picLocks noChangeAspect="1"/>
          </p:cNvPicPr>
          <p:nvPr/>
        </p:nvPicPr>
        <p:blipFill>
          <a:blip r:embed="rId4"/>
          <a:stretch>
            <a:fillRect/>
          </a:stretch>
        </p:blipFill>
        <p:spPr>
          <a:xfrm>
            <a:off x="621792" y="1536192"/>
            <a:ext cx="7626096" cy="4289450"/>
          </a:xfrm>
          <a:prstGeom prst="rect">
            <a:avLst/>
          </a:prstGeom>
        </p:spPr>
      </p:pic>
      <p:sp>
        <p:nvSpPr>
          <p:cNvPr id="12" name="Observation card"/>
          <p:cNvSpPr/>
          <p:nvPr/>
        </p:nvSpPr>
        <p:spPr>
          <a:xfrm>
            <a:off x="8595360" y="1463040"/>
            <a:ext cx="3044952" cy="4435754"/>
          </a:xfrm>
          <a:prstGeom prst="roundRect">
            <a:avLst>
              <a:gd name="adj" fmla="val 3000"/>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13" name="Observation heading"/>
          <p:cNvSpPr txBox="1"/>
          <p:nvPr/>
        </p:nvSpPr>
        <p:spPr>
          <a:xfrm>
            <a:off x="8823960" y="1645920"/>
            <a:ext cx="2587752" cy="457200"/>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What we observed</a:t>
            </a:r>
            <a:endParaRPr lang="en-US" sz="1600" dirty="0"/>
          </a:p>
        </p:txBody>
      </p:sp>
      <p:sp>
        <p:nvSpPr>
          <p:cNvPr id="14" name="Observation list"/>
          <p:cNvSpPr txBox="1"/>
          <p:nvPr/>
        </p:nvSpPr>
        <p:spPr>
          <a:xfrm>
            <a:off x="8823960" y="2240280"/>
            <a:ext cx="2587752" cy="3475634"/>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chemeClr val="tx1"/>
                </a:solidFill>
              </a:rPr>
              <a:t>$2.3M sales and $286.4K profit at a 12.5% margin</a:t>
            </a:r>
            <a:endParaRPr lang="en-US" sz="1500" dirty="0"/>
          </a:p>
          <a:p>
            <a:pPr marL="228600" indent="-228600">
              <a:spcAft>
                <a:spcPts val="1000"/>
              </a:spcAft>
              <a:buSzPct val="100000"/>
              <a:buChar char="•"/>
            </a:pPr>
            <a:r>
              <a:rPr lang="en-US" sz="1500" dirty="0">
                <a:solidFill>
                  <a:schemeClr val="tx1"/>
                </a:solidFill>
              </a:rPr>
              <a:t>5,009 orders from 793 customers</a:t>
            </a:r>
            <a:endParaRPr lang="en-US" sz="1500" dirty="0"/>
          </a:p>
          <a:p>
            <a:pPr marL="228600" indent="-228600">
              <a:spcAft>
                <a:spcPts val="1000"/>
              </a:spcAft>
              <a:buSzPct val="100000"/>
              <a:buChar char="•"/>
            </a:pPr>
            <a:r>
              <a:rPr lang="en-US" sz="1500" dirty="0">
                <a:solidFill>
                  <a:schemeClr val="tx1"/>
                </a:solidFill>
              </a:rPr>
              <a:t>Year, Region, Category and Segment slicers filter every visual</a:t>
            </a:r>
            <a:endParaRPr lang="en-US" sz="1500" dirty="0"/>
          </a:p>
        </p:txBody>
      </p:sp>
      <p:sp>
        <p:nvSpPr>
          <p:cNvPr id="15" name="Slide Number Placeholder 0"/>
          <p:cNvSpPr>
            <a:spLocks noGrp="1"/>
          </p:cNvSpPr>
          <p:nvPr>
            <p:ph type="sldNum" sz="quarter" idx="4294967295"/>
          </p:nvPr>
        </p:nvSpPr>
        <p:spPr>
          <a:xfrm>
            <a:off x="11183112" y="6400800"/>
            <a:ext cx="457200" cy="274320"/>
          </a:xfrm>
          <a:prstGeom prst="rect">
            <a:avLst/>
          </a:prstGeom>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100" b="1" spc="300" kern="0" dirty="0">
                <a:solidFill>
                  <a:schemeClr val="accent1"/>
                </a:solidFill>
              </a:rPr>
              <a:t>05  ·  INSIGHTS</a:t>
            </a:r>
            <a:endParaRPr lang="en-US" sz="1100" dirty="0"/>
          </a:p>
        </p:txBody>
      </p:sp>
      <p:sp>
        <p:nvSpPr>
          <p:cNvPr id="3"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What the data tells us</a:t>
            </a:r>
            <a:endParaRPr lang="en-US" sz="3400" dirty="0"/>
          </a:p>
        </p:txBody>
      </p:sp>
      <p:sp>
        <p:nvSpPr>
          <p:cNvPr id="4" name="Insight card 1"/>
          <p:cNvSpPr/>
          <p:nvPr/>
        </p:nvSpPr>
        <p:spPr>
          <a:xfrm>
            <a:off x="548640" y="1463040"/>
            <a:ext cx="3514344" cy="1600200"/>
          </a:xfrm>
          <a:prstGeom prst="roundRect">
            <a:avLst>
              <a:gd name="adj" fmla="val 5000"/>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5" name="Insight value 1"/>
          <p:cNvSpPr txBox="1"/>
          <p:nvPr/>
        </p:nvSpPr>
        <p:spPr>
          <a:xfrm>
            <a:off x="777240" y="1572768"/>
            <a:ext cx="3057144" cy="566928"/>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+20.4%</a:t>
            </a:r>
            <a:endParaRPr lang="en-US" sz="3000" dirty="0"/>
          </a:p>
        </p:txBody>
      </p:sp>
      <p:sp>
        <p:nvSpPr>
          <p:cNvPr id="6" name="Insight text 1"/>
          <p:cNvSpPr txBox="1"/>
          <p:nvPr/>
        </p:nvSpPr>
        <p:spPr>
          <a:xfrm>
            <a:off x="777240" y="2194560"/>
            <a:ext cx="3057144" cy="777240"/>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sales growth, 2017 vs 2016</a:t>
            </a:r>
            <a:endParaRPr lang="en-US" sz="1400" dirty="0"/>
          </a:p>
          <a:p>
            <a:pPr indent="0" marL="0">
              <a:buNone/>
            </a:pPr>
            <a:r>
              <a:rPr lang="en-US" sz="1200" dirty="0">
                <a:solidFill>
                  <a:schemeClr val="accent6"/>
                </a:solidFill>
              </a:rPr>
              <a:t>Orders rose 28.3% over the same period.</a:t>
            </a:r>
            <a:endParaRPr lang="en-US" sz="1200" dirty="0"/>
          </a:p>
        </p:txBody>
      </p:sp>
      <p:sp>
        <p:nvSpPr>
          <p:cNvPr id="7" name="Insight card 2"/>
          <p:cNvSpPr/>
          <p:nvPr/>
        </p:nvSpPr>
        <p:spPr>
          <a:xfrm>
            <a:off x="4337304" y="1463040"/>
            <a:ext cx="3514344" cy="1600200"/>
          </a:xfrm>
          <a:prstGeom prst="roundRect">
            <a:avLst>
              <a:gd name="adj" fmla="val 5000"/>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8" name="Insight value 2"/>
          <p:cNvSpPr txBox="1"/>
          <p:nvPr/>
        </p:nvSpPr>
        <p:spPr>
          <a:xfrm>
            <a:off x="4565904" y="1572768"/>
            <a:ext cx="3057144" cy="566928"/>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+14.2%</a:t>
            </a:r>
            <a:endParaRPr lang="en-US" sz="3000" dirty="0"/>
          </a:p>
        </p:txBody>
      </p:sp>
      <p:sp>
        <p:nvSpPr>
          <p:cNvPr id="9" name="Insight text 2"/>
          <p:cNvSpPr txBox="1"/>
          <p:nvPr/>
        </p:nvSpPr>
        <p:spPr>
          <a:xfrm>
            <a:off x="4565904" y="2194560"/>
            <a:ext cx="3057144" cy="777240"/>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profit growth, 2017 vs 2016</a:t>
            </a:r>
            <a:endParaRPr lang="en-US" sz="1400" dirty="0"/>
          </a:p>
          <a:p>
            <a:pPr indent="0" marL="0">
              <a:buNone/>
            </a:pPr>
            <a:r>
              <a:rPr lang="en-US" sz="1200" dirty="0">
                <a:solidFill>
                  <a:schemeClr val="accent6"/>
                </a:solidFill>
              </a:rPr>
              <a:t>Profit grew slower than sales, so margin slipped 0.7 pts.</a:t>
            </a:r>
            <a:endParaRPr lang="en-US" sz="1200" dirty="0"/>
          </a:p>
        </p:txBody>
      </p:sp>
      <p:sp>
        <p:nvSpPr>
          <p:cNvPr id="10" name="Insight card 3"/>
          <p:cNvSpPr/>
          <p:nvPr/>
        </p:nvSpPr>
        <p:spPr>
          <a:xfrm>
            <a:off x="8125968" y="1463040"/>
            <a:ext cx="3514344" cy="1600200"/>
          </a:xfrm>
          <a:prstGeom prst="roundRect">
            <a:avLst>
              <a:gd name="adj" fmla="val 5000"/>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11" name="Insight value 3"/>
          <p:cNvSpPr txBox="1"/>
          <p:nvPr/>
        </p:nvSpPr>
        <p:spPr>
          <a:xfrm>
            <a:off x="8354568" y="1572768"/>
            <a:ext cx="3057144" cy="566928"/>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51.6%</a:t>
            </a:r>
            <a:endParaRPr lang="en-US" sz="3000" dirty="0"/>
          </a:p>
        </p:txBody>
      </p:sp>
      <p:sp>
        <p:nvSpPr>
          <p:cNvPr id="12" name="Insight text 3"/>
          <p:cNvSpPr txBox="1"/>
          <p:nvPr/>
        </p:nvSpPr>
        <p:spPr>
          <a:xfrm>
            <a:off x="8354568" y="2194560"/>
            <a:ext cx="3057144" cy="777240"/>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of sales land in Sep–Dec</a:t>
            </a:r>
            <a:endParaRPr lang="en-US" sz="1400" dirty="0"/>
          </a:p>
          <a:p>
            <a:pPr indent="0" marL="0">
              <a:buNone/>
            </a:pPr>
            <a:r>
              <a:rPr lang="en-US" sz="1200" dirty="0">
                <a:solidFill>
                  <a:schemeClr val="accent6"/>
                </a:solidFill>
              </a:rPr>
              <a:t>Year-end is the peak; January and February are the slowest.</a:t>
            </a:r>
            <a:endParaRPr lang="en-US" sz="1200" dirty="0"/>
          </a:p>
        </p:txBody>
      </p:sp>
      <p:sp>
        <p:nvSpPr>
          <p:cNvPr id="13" name="Discount card"/>
          <p:cNvSpPr/>
          <p:nvPr/>
        </p:nvSpPr>
        <p:spPr>
          <a:xfrm>
            <a:off x="548640" y="3337560"/>
            <a:ext cx="5408676" cy="2834640"/>
          </a:xfrm>
          <a:prstGeom prst="roundRect">
            <a:avLst>
              <a:gd name="adj" fmla="val 3000"/>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14" name="Discount heading"/>
          <p:cNvSpPr txBox="1"/>
          <p:nvPr/>
        </p:nvSpPr>
        <p:spPr>
          <a:xfrm>
            <a:off x="777240" y="3493008"/>
            <a:ext cx="4951476" cy="4114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Heavy discounts destroy profit</a:t>
            </a:r>
            <a:endParaRPr lang="en-US" sz="1600" dirty="0"/>
          </a:p>
        </p:txBody>
      </p:sp>
      <p:sp>
        <p:nvSpPr>
          <p:cNvPr id="15" name="Discount figures"/>
          <p:cNvSpPr txBox="1"/>
          <p:nvPr/>
        </p:nvSpPr>
        <p:spPr>
          <a:xfrm>
            <a:off x="777240" y="4023360"/>
            <a:ext cx="4951476" cy="1097280"/>
          </a:xfrm>
          <a:prstGeom prst="rect">
            <a:avLst/>
          </a:prstGeom>
          <a:noFill/>
          <a:ln/>
        </p:spPr>
        <p:txBody>
          <a:bodyPr wrap="square" lIns="0" tIns="0" rIns="0" bIns="0" rtlCol="0" anchor="t"/>
          <a:lstStyle/>
          <a:p>
            <a:pPr indent="0" marL="0">
              <a:spcAft>
                <a:spcPts val="600"/>
              </a:spcAft>
              <a:buNone/>
            </a:pPr>
            <a:r>
              <a:rPr lang="en-US" sz="2400" b="1" dirty="0">
                <a:solidFill>
                  <a:schemeClr val="accent1"/>
                </a:solidFill>
                <a:latin typeface="Cambria" pitchFamily="34" charset="0"/>
                <a:ea typeface="Cambria" pitchFamily="34" charset="-122"/>
                <a:cs typeface="Cambria" pitchFamily="34" charset="-120"/>
              </a:rPr>
              <a:t>$66.9</a:t>
            </a:r>
            <a:r>
              <a:rPr lang="en-US" sz="1300" dirty="0">
                <a:solidFill>
                  <a:schemeClr val="accent6"/>
                </a:solidFill>
              </a:rPr>
              <a:t>   avg profit per line, no discount</a:t>
            </a:r>
            <a:endParaRPr lang="en-US" sz="2400" dirty="0"/>
          </a:p>
          <a:p>
            <a:pPr indent="0" marL="0">
              <a:buNone/>
            </a:pPr>
            <a:r>
              <a:rPr lang="en-US" sz="2400" b="1" dirty="0">
                <a:solidFill>
                  <a:schemeClr val="accent3"/>
                </a:solidFill>
                <a:latin typeface="Cambria" pitchFamily="34" charset="0"/>
                <a:ea typeface="Cambria" pitchFamily="34" charset="-122"/>
                <a:cs typeface="Cambria" pitchFamily="34" charset="-120"/>
              </a:rPr>
              <a:t>-$97.2</a:t>
            </a:r>
            <a:r>
              <a:rPr lang="en-US" sz="1300" dirty="0">
                <a:solidFill>
                  <a:schemeClr val="accent6"/>
                </a:solidFill>
              </a:rPr>
              <a:t>   avg profit per line, above 20% off</a:t>
            </a:r>
            <a:endParaRPr lang="en-US" sz="2400" dirty="0"/>
          </a:p>
        </p:txBody>
      </p:sp>
      <p:sp>
        <p:nvSpPr>
          <p:cNvPr id="16" name="Discount summary"/>
          <p:cNvSpPr txBox="1"/>
          <p:nvPr/>
        </p:nvSpPr>
        <p:spPr>
          <a:xfrm>
            <a:off x="777240" y="5257800"/>
            <a:ext cx="4951476" cy="731520"/>
          </a:xfrm>
          <a:prstGeom prst="rect">
            <a:avLst/>
          </a:prstGeom>
          <a:noFill/>
          <a:ln/>
        </p:spPr>
        <p:txBody>
          <a:bodyPr wrap="square" lIns="0" tIns="0" rIns="0" bIns="0" rtlCol="0" anchor="t"/>
          <a:lstStyle/>
          <a:p>
            <a:pPr indent="0" marL="0">
              <a:buNone/>
            </a:pPr>
            <a:r>
              <a:rPr lang="en-US" sz="1400" dirty="0">
                <a:solidFill>
                  <a:schemeClr val="tx1"/>
                </a:solidFill>
              </a:rPr>
              <a:t>Discounts above 20% (13.9% of lines) lost $135K in total.</a:t>
            </a:r>
            <a:endParaRPr lang="en-US" sz="1400" dirty="0"/>
          </a:p>
        </p:txBody>
      </p:sp>
      <p:sp>
        <p:nvSpPr>
          <p:cNvPr id="17" name="Loss areas card"/>
          <p:cNvSpPr/>
          <p:nvPr/>
        </p:nvSpPr>
        <p:spPr>
          <a:xfrm>
            <a:off x="6231636" y="3337560"/>
            <a:ext cx="5408676" cy="2834640"/>
          </a:xfrm>
          <a:prstGeom prst="roundRect">
            <a:avLst>
              <a:gd name="adj" fmla="val 3000"/>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18" name="Loss heading"/>
          <p:cNvSpPr txBox="1"/>
          <p:nvPr/>
        </p:nvSpPr>
        <p:spPr>
          <a:xfrm>
            <a:off x="6460236" y="3493008"/>
            <a:ext cx="4951476" cy="4114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Where the losses sit</a:t>
            </a:r>
            <a:endParaRPr lang="en-US" sz="1600" dirty="0"/>
          </a:p>
        </p:txBody>
      </p:sp>
      <p:sp>
        <p:nvSpPr>
          <p:cNvPr id="19" name="Loss list"/>
          <p:cNvSpPr txBox="1"/>
          <p:nvPr/>
        </p:nvSpPr>
        <p:spPr>
          <a:xfrm>
            <a:off x="6460236" y="4023360"/>
            <a:ext cx="4951476" cy="2011680"/>
          </a:xfrm>
          <a:prstGeom prst="rect">
            <a:avLst/>
          </a:prstGeom>
          <a:noFill/>
          <a:ln/>
        </p:spPr>
        <p:txBody>
          <a:bodyPr wrap="square" lIns="0" tIns="0" rIns="0" bIns="0" rtlCol="0" anchor="t"/>
          <a:lstStyle/>
          <a:p>
            <a:pPr marL="228600" indent="-228600">
              <a:spcAft>
                <a:spcPts val="600"/>
              </a:spcAft>
              <a:buSzPct val="100000"/>
              <a:buChar char="•"/>
            </a:pPr>
            <a:r>
              <a:rPr lang="en-US" sz="1400" dirty="0">
                <a:solidFill>
                  <a:schemeClr val="tx1"/>
                </a:solidFill>
              </a:rPr>
              <a:t>Tables, Bookcases and Supplies all lose money</a:t>
            </a:r>
            <a:endParaRPr lang="en-US" sz="1400" dirty="0"/>
          </a:p>
          <a:p>
            <a:pPr marL="228600" indent="-228600">
              <a:spcAft>
                <a:spcPts val="600"/>
              </a:spcAft>
              <a:buSzPct val="100000"/>
              <a:buChar char="•"/>
            </a:pPr>
            <a:r>
              <a:rPr lang="en-US" sz="1400" dirty="0">
                <a:solidFill>
                  <a:schemeClr val="tx1"/>
                </a:solidFill>
              </a:rPr>
              <a:t>Texas, Ohio, Pennsylvania and Illinois lose $71K combined</a:t>
            </a:r>
            <a:endParaRPr lang="en-US" sz="1400" dirty="0"/>
          </a:p>
          <a:p>
            <a:pPr marL="228600" indent="-228600">
              <a:spcAft>
                <a:spcPts val="600"/>
              </a:spcAft>
              <a:buSzPct val="100000"/>
              <a:buChar char="•"/>
            </a:pPr>
            <a:r>
              <a:rPr lang="en-US" sz="1400" dirty="0">
                <a:solidFill>
                  <a:schemeClr val="tx1"/>
                </a:solidFill>
              </a:rPr>
              <a:t>Copiers and Phones lead profit</a:t>
            </a:r>
            <a:endParaRPr lang="en-US" sz="1400" dirty="0"/>
          </a:p>
        </p:txBody>
      </p:sp>
      <p:sp>
        <p:nvSpPr>
          <p:cNvPr id="20" name="Slide Number Placeholder 0"/>
          <p:cNvSpPr>
            <a:spLocks noGrp="1"/>
          </p:cNvSpPr>
          <p:nvPr>
            <p:ph type="sldNum" sz="quarter" idx="4294967295"/>
          </p:nvPr>
        </p:nvSpPr>
        <p:spPr>
          <a:xfrm>
            <a:off x="11183112" y="6400800"/>
            <a:ext cx="457200" cy="274320"/>
          </a:xfrm>
          <a:prstGeom prst="rect">
            <a:avLst/>
          </a:prstGeom>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100" b="1" spc="300" kern="0" dirty="0">
                <a:solidFill>
                  <a:schemeClr val="accent1"/>
                </a:solidFill>
              </a:rPr>
              <a:t>06  ·  RECOMMENDATIONS</a:t>
            </a:r>
            <a:endParaRPr lang="en-US" sz="1100" dirty="0"/>
          </a:p>
        </p:txBody>
      </p:sp>
      <p:sp>
        <p:nvSpPr>
          <p:cNvPr id="3"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Recommendations to grow the business</a:t>
            </a:r>
            <a:endParaRPr lang="en-US" sz="3400" dirty="0"/>
          </a:p>
        </p:txBody>
      </p:sp>
      <p:sp>
        <p:nvSpPr>
          <p:cNvPr id="4" name="Recommendation card 1"/>
          <p:cNvSpPr/>
          <p:nvPr/>
        </p:nvSpPr>
        <p:spPr>
          <a:xfrm>
            <a:off x="548640" y="1600200"/>
            <a:ext cx="3566160" cy="2194560"/>
          </a:xfrm>
          <a:prstGeom prst="roundRect">
            <a:avLst>
              <a:gd name="adj" fmla="val 4167"/>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5" name="Recommendation badge 1"/>
          <p:cNvSpPr/>
          <p:nvPr/>
        </p:nvSpPr>
        <p:spPr>
          <a:xfrm>
            <a:off x="777240" y="1801368"/>
            <a:ext cx="384048" cy="384048"/>
          </a:xfrm>
          <a:prstGeom prst="ellipse">
            <a:avLst/>
          </a:prstGeom>
          <a:solidFill>
            <a:schemeClr val="accent2"/>
          </a:solidFill>
          <a:ln/>
        </p:spPr>
      </p:sp>
      <p:sp>
        <p:nvSpPr>
          <p:cNvPr id="6" name="Recommendation number 1"/>
          <p:cNvSpPr txBox="1"/>
          <p:nvPr/>
        </p:nvSpPr>
        <p:spPr>
          <a:xfrm>
            <a:off x="777240" y="1801368"/>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7" name="Recommendation title 1"/>
          <p:cNvSpPr txBox="1"/>
          <p:nvPr/>
        </p:nvSpPr>
        <p:spPr>
          <a:xfrm>
            <a:off x="1298448" y="1801368"/>
            <a:ext cx="2606040" cy="384048"/>
          </a:xfrm>
          <a:prstGeom prst="rect">
            <a:avLst/>
          </a:prstGeom>
          <a:noFill/>
          <a:ln/>
        </p:spPr>
        <p:txBody>
          <a:bodyPr wrap="square" lIns="0" tIns="0" rIns="0" bIns="0" rtlCol="0" anchor="ctr"/>
          <a:lstStyle/>
          <a:p>
            <a:pPr indent="0" marL="0">
              <a:buNone/>
            </a:pPr>
            <a:r>
              <a:rPr lang="en-US" sz="1600" b="1" dirty="0">
                <a:solidFill>
                  <a:schemeClr val="tx1"/>
                </a:solidFill>
              </a:rPr>
              <a:t>Cap discounts at 20%</a:t>
            </a:r>
            <a:endParaRPr lang="en-US" sz="1600" dirty="0"/>
          </a:p>
        </p:txBody>
      </p:sp>
      <p:sp>
        <p:nvSpPr>
          <p:cNvPr id="8" name="Recommendation figure 1"/>
          <p:cNvSpPr txBox="1"/>
          <p:nvPr/>
        </p:nvSpPr>
        <p:spPr>
          <a:xfrm>
            <a:off x="777240" y="2331720"/>
            <a:ext cx="3108960" cy="457200"/>
          </a:xfrm>
          <a:prstGeom prst="rect">
            <a:avLst/>
          </a:prstGeom>
          <a:noFill/>
          <a:ln/>
        </p:spPr>
        <p:txBody>
          <a:bodyPr wrap="square" lIns="0" tIns="0" rIns="0" bIns="0" rtlCol="0" anchor="ctr"/>
          <a:lstStyle/>
          <a:p>
            <a:pPr indent="0" marL="0">
              <a:buNone/>
            </a:pPr>
            <a:r>
              <a:rPr lang="en-US" sz="2600" b="1" dirty="0">
                <a:solidFill>
                  <a:schemeClr val="accent3"/>
                </a:solidFill>
                <a:latin typeface="Cambria" pitchFamily="34" charset="0"/>
                <a:ea typeface="Cambria" pitchFamily="34" charset="-122"/>
                <a:cs typeface="Cambria" pitchFamily="34" charset="-120"/>
              </a:rPr>
              <a:t>-$135K</a:t>
            </a:r>
            <a:endParaRPr lang="en-US" sz="2600" dirty="0"/>
          </a:p>
        </p:txBody>
      </p:sp>
      <p:sp>
        <p:nvSpPr>
          <p:cNvPr id="9" name="Recommendation text 1"/>
          <p:cNvSpPr txBox="1"/>
          <p:nvPr/>
        </p:nvSpPr>
        <p:spPr>
          <a:xfrm>
            <a:off x="777240" y="2862072"/>
            <a:ext cx="3108960" cy="822960"/>
          </a:xfrm>
          <a:prstGeom prst="rect">
            <a:avLst/>
          </a:prstGeom>
          <a:noFill/>
          <a:ln/>
        </p:spPr>
        <p:txBody>
          <a:bodyPr wrap="square" lIns="0" tIns="0" rIns="0" bIns="0" rtlCol="0" anchor="t"/>
          <a:lstStyle/>
          <a:p>
            <a:pPr indent="0" marL="0">
              <a:buNone/>
            </a:pPr>
            <a:r>
              <a:rPr lang="en-US" sz="1400" dirty="0">
                <a:solidFill>
                  <a:schemeClr val="tx1"/>
                </a:solidFill>
              </a:rPr>
              <a:t>Lines discounted above 20% lose $97 each on average. Require approval for any deal beyond 20%.</a:t>
            </a:r>
            <a:endParaRPr lang="en-US" sz="1400" dirty="0"/>
          </a:p>
        </p:txBody>
      </p:sp>
      <p:sp>
        <p:nvSpPr>
          <p:cNvPr id="10" name="Recommendation card 2"/>
          <p:cNvSpPr/>
          <p:nvPr/>
        </p:nvSpPr>
        <p:spPr>
          <a:xfrm>
            <a:off x="4311396" y="1600200"/>
            <a:ext cx="3566160" cy="2194560"/>
          </a:xfrm>
          <a:prstGeom prst="roundRect">
            <a:avLst>
              <a:gd name="adj" fmla="val 4167"/>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11" name="Recommendation badge 2"/>
          <p:cNvSpPr/>
          <p:nvPr/>
        </p:nvSpPr>
        <p:spPr>
          <a:xfrm>
            <a:off x="4539996" y="1801368"/>
            <a:ext cx="384048" cy="384048"/>
          </a:xfrm>
          <a:prstGeom prst="ellipse">
            <a:avLst/>
          </a:prstGeom>
          <a:solidFill>
            <a:schemeClr val="accent2"/>
          </a:solidFill>
          <a:ln/>
        </p:spPr>
      </p:sp>
      <p:sp>
        <p:nvSpPr>
          <p:cNvPr id="12" name="Recommendation number 2"/>
          <p:cNvSpPr txBox="1"/>
          <p:nvPr/>
        </p:nvSpPr>
        <p:spPr>
          <a:xfrm>
            <a:off x="4539996" y="1801368"/>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3" name="Recommendation title 2"/>
          <p:cNvSpPr txBox="1"/>
          <p:nvPr/>
        </p:nvSpPr>
        <p:spPr>
          <a:xfrm>
            <a:off x="5061204" y="1801368"/>
            <a:ext cx="2606040" cy="384048"/>
          </a:xfrm>
          <a:prstGeom prst="rect">
            <a:avLst/>
          </a:prstGeom>
          <a:noFill/>
          <a:ln/>
        </p:spPr>
        <p:txBody>
          <a:bodyPr wrap="square" lIns="0" tIns="0" rIns="0" bIns="0" rtlCol="0" anchor="ctr"/>
          <a:lstStyle/>
          <a:p>
            <a:pPr indent="0" marL="0">
              <a:buNone/>
            </a:pPr>
            <a:r>
              <a:rPr lang="en-US" sz="1600" b="1" dirty="0">
                <a:solidFill>
                  <a:schemeClr val="tx1"/>
                </a:solidFill>
              </a:rPr>
              <a:t>Fix Tables and Bookcases</a:t>
            </a:r>
            <a:endParaRPr lang="en-US" sz="1600" dirty="0"/>
          </a:p>
        </p:txBody>
      </p:sp>
      <p:sp>
        <p:nvSpPr>
          <p:cNvPr id="14" name="Recommendation figure 2"/>
          <p:cNvSpPr txBox="1"/>
          <p:nvPr/>
        </p:nvSpPr>
        <p:spPr>
          <a:xfrm>
            <a:off x="4539996" y="2331720"/>
            <a:ext cx="3108960" cy="457200"/>
          </a:xfrm>
          <a:prstGeom prst="rect">
            <a:avLst/>
          </a:prstGeom>
          <a:noFill/>
          <a:ln/>
        </p:spPr>
        <p:txBody>
          <a:bodyPr wrap="square" lIns="0" tIns="0" rIns="0" bIns="0" rtlCol="0" anchor="ctr"/>
          <a:lstStyle/>
          <a:p>
            <a:pPr indent="0" marL="0">
              <a:buNone/>
            </a:pPr>
            <a:r>
              <a:rPr lang="en-US" sz="2600" b="1" dirty="0">
                <a:solidFill>
                  <a:schemeClr val="accent3"/>
                </a:solidFill>
                <a:latin typeface="Cambria" pitchFamily="34" charset="0"/>
                <a:ea typeface="Cambria" pitchFamily="34" charset="-122"/>
                <a:cs typeface="Cambria" pitchFamily="34" charset="-120"/>
              </a:rPr>
              <a:t>-$18K</a:t>
            </a:r>
            <a:endParaRPr lang="en-US" sz="2600" dirty="0"/>
          </a:p>
        </p:txBody>
      </p:sp>
      <p:sp>
        <p:nvSpPr>
          <p:cNvPr id="15" name="Recommendation text 2"/>
          <p:cNvSpPr txBox="1"/>
          <p:nvPr/>
        </p:nvSpPr>
        <p:spPr>
          <a:xfrm>
            <a:off x="4539996" y="2862072"/>
            <a:ext cx="3108960" cy="822960"/>
          </a:xfrm>
          <a:prstGeom prst="rect">
            <a:avLst/>
          </a:prstGeom>
          <a:noFill/>
          <a:ln/>
        </p:spPr>
        <p:txBody>
          <a:bodyPr wrap="square" lIns="0" tIns="0" rIns="0" bIns="0" rtlCol="0" anchor="t"/>
          <a:lstStyle/>
          <a:p>
            <a:pPr indent="0" marL="0">
              <a:buNone/>
            </a:pPr>
            <a:r>
              <a:rPr lang="en-US" sz="1400" dirty="0">
                <a:solidFill>
                  <a:schemeClr val="tx1"/>
                </a:solidFill>
              </a:rPr>
              <a:t>Tables lose $18K and Bookcases $4K. Renegotiate supplier cost, raise prices or trim the range.</a:t>
            </a:r>
            <a:endParaRPr lang="en-US" sz="1400" dirty="0"/>
          </a:p>
        </p:txBody>
      </p:sp>
      <p:sp>
        <p:nvSpPr>
          <p:cNvPr id="16" name="Recommendation card 3"/>
          <p:cNvSpPr/>
          <p:nvPr/>
        </p:nvSpPr>
        <p:spPr>
          <a:xfrm>
            <a:off x="8074152" y="1600200"/>
            <a:ext cx="3566160" cy="2194560"/>
          </a:xfrm>
          <a:prstGeom prst="roundRect">
            <a:avLst>
              <a:gd name="adj" fmla="val 4167"/>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17" name="Recommendation badge 3"/>
          <p:cNvSpPr/>
          <p:nvPr/>
        </p:nvSpPr>
        <p:spPr>
          <a:xfrm>
            <a:off x="8302752" y="1801368"/>
            <a:ext cx="384048" cy="384048"/>
          </a:xfrm>
          <a:prstGeom prst="ellipse">
            <a:avLst/>
          </a:prstGeom>
          <a:solidFill>
            <a:schemeClr val="accent2"/>
          </a:solidFill>
          <a:ln/>
        </p:spPr>
      </p:sp>
      <p:sp>
        <p:nvSpPr>
          <p:cNvPr id="18" name="Recommendation number 3"/>
          <p:cNvSpPr txBox="1"/>
          <p:nvPr/>
        </p:nvSpPr>
        <p:spPr>
          <a:xfrm>
            <a:off x="8302752" y="1801368"/>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9" name="Recommendation title 3"/>
          <p:cNvSpPr txBox="1"/>
          <p:nvPr/>
        </p:nvSpPr>
        <p:spPr>
          <a:xfrm>
            <a:off x="8823960" y="1801368"/>
            <a:ext cx="2606040" cy="384048"/>
          </a:xfrm>
          <a:prstGeom prst="rect">
            <a:avLst/>
          </a:prstGeom>
          <a:noFill/>
          <a:ln/>
        </p:spPr>
        <p:txBody>
          <a:bodyPr wrap="square" lIns="0" tIns="0" rIns="0" bIns="0" rtlCol="0" anchor="ctr"/>
          <a:lstStyle/>
          <a:p>
            <a:pPr indent="0" marL="0">
              <a:buNone/>
            </a:pPr>
            <a:r>
              <a:rPr lang="en-US" sz="1600" b="1" dirty="0">
                <a:solidFill>
                  <a:schemeClr val="tx1"/>
                </a:solidFill>
              </a:rPr>
              <a:t>Turn around four states</a:t>
            </a:r>
            <a:endParaRPr lang="en-US" sz="1600" dirty="0"/>
          </a:p>
        </p:txBody>
      </p:sp>
      <p:sp>
        <p:nvSpPr>
          <p:cNvPr id="20" name="Recommendation figure 3"/>
          <p:cNvSpPr txBox="1"/>
          <p:nvPr/>
        </p:nvSpPr>
        <p:spPr>
          <a:xfrm>
            <a:off x="8302752" y="2331720"/>
            <a:ext cx="3108960" cy="457200"/>
          </a:xfrm>
          <a:prstGeom prst="rect">
            <a:avLst/>
          </a:prstGeom>
          <a:noFill/>
          <a:ln/>
        </p:spPr>
        <p:txBody>
          <a:bodyPr wrap="square" lIns="0" tIns="0" rIns="0" bIns="0" rtlCol="0" anchor="ctr"/>
          <a:lstStyle/>
          <a:p>
            <a:pPr indent="0" marL="0">
              <a:buNone/>
            </a:pPr>
            <a:r>
              <a:rPr lang="en-US" sz="2600" b="1" dirty="0">
                <a:solidFill>
                  <a:schemeClr val="accent3"/>
                </a:solidFill>
                <a:latin typeface="Cambria" pitchFamily="34" charset="0"/>
                <a:ea typeface="Cambria" pitchFamily="34" charset="-122"/>
                <a:cs typeface="Cambria" pitchFamily="34" charset="-120"/>
              </a:rPr>
              <a:t>-$71K</a:t>
            </a:r>
            <a:endParaRPr lang="en-US" sz="2600" dirty="0"/>
          </a:p>
        </p:txBody>
      </p:sp>
      <p:sp>
        <p:nvSpPr>
          <p:cNvPr id="21" name="Recommendation text 3"/>
          <p:cNvSpPr txBox="1"/>
          <p:nvPr/>
        </p:nvSpPr>
        <p:spPr>
          <a:xfrm>
            <a:off x="8302752" y="2862072"/>
            <a:ext cx="3108960" cy="822960"/>
          </a:xfrm>
          <a:prstGeom prst="rect">
            <a:avLst/>
          </a:prstGeom>
          <a:noFill/>
          <a:ln/>
        </p:spPr>
        <p:txBody>
          <a:bodyPr wrap="square" lIns="0" tIns="0" rIns="0" bIns="0" rtlCol="0" anchor="t"/>
          <a:lstStyle/>
          <a:p>
            <a:pPr indent="0" marL="0">
              <a:buNone/>
            </a:pPr>
            <a:r>
              <a:rPr lang="en-US" sz="1400" dirty="0">
                <a:solidFill>
                  <a:schemeClr val="tx1"/>
                </a:solidFill>
              </a:rPr>
              <a:t>Texas, Ohio, Pennsylvania and Illinois lose money. Review local discounts and delivery cost first.</a:t>
            </a:r>
            <a:endParaRPr lang="en-US" sz="1400" dirty="0"/>
          </a:p>
        </p:txBody>
      </p:sp>
      <p:sp>
        <p:nvSpPr>
          <p:cNvPr id="22" name="Recommendation card 4"/>
          <p:cNvSpPr/>
          <p:nvPr/>
        </p:nvSpPr>
        <p:spPr>
          <a:xfrm>
            <a:off x="548640" y="3931920"/>
            <a:ext cx="3566160" cy="2194560"/>
          </a:xfrm>
          <a:prstGeom prst="roundRect">
            <a:avLst>
              <a:gd name="adj" fmla="val 4167"/>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23" name="Recommendation badge 4"/>
          <p:cNvSpPr/>
          <p:nvPr/>
        </p:nvSpPr>
        <p:spPr>
          <a:xfrm>
            <a:off x="777240" y="4133088"/>
            <a:ext cx="384048" cy="384048"/>
          </a:xfrm>
          <a:prstGeom prst="ellipse">
            <a:avLst/>
          </a:prstGeom>
          <a:solidFill>
            <a:schemeClr val="accent2"/>
          </a:solidFill>
          <a:ln/>
        </p:spPr>
      </p:sp>
      <p:sp>
        <p:nvSpPr>
          <p:cNvPr id="24" name="Recommendation number 4"/>
          <p:cNvSpPr txBox="1"/>
          <p:nvPr/>
        </p:nvSpPr>
        <p:spPr>
          <a:xfrm>
            <a:off x="777240" y="4133088"/>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5" name="Recommendation title 4"/>
          <p:cNvSpPr txBox="1"/>
          <p:nvPr/>
        </p:nvSpPr>
        <p:spPr>
          <a:xfrm>
            <a:off x="1298448" y="4133088"/>
            <a:ext cx="2606040" cy="384048"/>
          </a:xfrm>
          <a:prstGeom prst="rect">
            <a:avLst/>
          </a:prstGeom>
          <a:noFill/>
          <a:ln/>
        </p:spPr>
        <p:txBody>
          <a:bodyPr wrap="square" lIns="0" tIns="0" rIns="0" bIns="0" rtlCol="0" anchor="ctr"/>
          <a:lstStyle/>
          <a:p>
            <a:pPr indent="0" marL="0">
              <a:buNone/>
            </a:pPr>
            <a:r>
              <a:rPr lang="en-US" sz="1600" b="1" dirty="0">
                <a:solidFill>
                  <a:schemeClr val="tx1"/>
                </a:solidFill>
              </a:rPr>
              <a:t>Lift the Central region</a:t>
            </a:r>
            <a:endParaRPr lang="en-US" sz="1600" dirty="0"/>
          </a:p>
        </p:txBody>
      </p:sp>
      <p:sp>
        <p:nvSpPr>
          <p:cNvPr id="26" name="Recommendation figure 4"/>
          <p:cNvSpPr txBox="1"/>
          <p:nvPr/>
        </p:nvSpPr>
        <p:spPr>
          <a:xfrm>
            <a:off x="777240" y="4663440"/>
            <a:ext cx="310896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7.9%</a:t>
            </a:r>
            <a:endParaRPr lang="en-US" sz="2600" dirty="0"/>
          </a:p>
        </p:txBody>
      </p:sp>
      <p:sp>
        <p:nvSpPr>
          <p:cNvPr id="27" name="Recommendation text 4"/>
          <p:cNvSpPr txBox="1"/>
          <p:nvPr/>
        </p:nvSpPr>
        <p:spPr>
          <a:xfrm>
            <a:off x="777240" y="5193792"/>
            <a:ext cx="3108960" cy="822960"/>
          </a:xfrm>
          <a:prstGeom prst="rect">
            <a:avLst/>
          </a:prstGeom>
          <a:noFill/>
          <a:ln/>
        </p:spPr>
        <p:txBody>
          <a:bodyPr wrap="square" lIns="0" tIns="0" rIns="0" bIns="0" rtlCol="0" anchor="t"/>
          <a:lstStyle/>
          <a:p>
            <a:pPr indent="0" marL="0">
              <a:buNone/>
            </a:pPr>
            <a:r>
              <a:rPr lang="en-US" sz="1400" dirty="0">
                <a:solidFill>
                  <a:schemeClr val="tx1"/>
                </a:solidFill>
              </a:rPr>
              <a:t>Its margin trails the West at 14.9%. Apply West pricing and discount rules in Central.</a:t>
            </a:r>
            <a:endParaRPr lang="en-US" sz="1400" dirty="0"/>
          </a:p>
        </p:txBody>
      </p:sp>
      <p:sp>
        <p:nvSpPr>
          <p:cNvPr id="28" name="Recommendation card 5"/>
          <p:cNvSpPr/>
          <p:nvPr/>
        </p:nvSpPr>
        <p:spPr>
          <a:xfrm>
            <a:off x="4311396" y="3931920"/>
            <a:ext cx="3566160" cy="2194560"/>
          </a:xfrm>
          <a:prstGeom prst="roundRect">
            <a:avLst>
              <a:gd name="adj" fmla="val 4167"/>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29" name="Recommendation badge 5"/>
          <p:cNvSpPr/>
          <p:nvPr/>
        </p:nvSpPr>
        <p:spPr>
          <a:xfrm>
            <a:off x="4539996" y="4133088"/>
            <a:ext cx="384048" cy="384048"/>
          </a:xfrm>
          <a:prstGeom prst="ellipse">
            <a:avLst/>
          </a:prstGeom>
          <a:solidFill>
            <a:schemeClr val="accent2"/>
          </a:solidFill>
          <a:ln/>
        </p:spPr>
      </p:sp>
      <p:sp>
        <p:nvSpPr>
          <p:cNvPr id="30" name="Recommendation number 5"/>
          <p:cNvSpPr txBox="1"/>
          <p:nvPr/>
        </p:nvSpPr>
        <p:spPr>
          <a:xfrm>
            <a:off x="4539996" y="4133088"/>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31" name="Recommendation title 5"/>
          <p:cNvSpPr txBox="1"/>
          <p:nvPr/>
        </p:nvSpPr>
        <p:spPr>
          <a:xfrm>
            <a:off x="5061204" y="4133088"/>
            <a:ext cx="2606040" cy="384048"/>
          </a:xfrm>
          <a:prstGeom prst="rect">
            <a:avLst/>
          </a:prstGeom>
          <a:noFill/>
          <a:ln/>
        </p:spPr>
        <p:txBody>
          <a:bodyPr wrap="square" lIns="0" tIns="0" rIns="0" bIns="0" rtlCol="0" anchor="ctr"/>
          <a:lstStyle/>
          <a:p>
            <a:pPr indent="0" marL="0">
              <a:buNone/>
            </a:pPr>
            <a:r>
              <a:rPr lang="en-US" sz="1600" b="1" dirty="0">
                <a:solidFill>
                  <a:schemeClr val="tx1"/>
                </a:solidFill>
              </a:rPr>
              <a:t>Prepare for Sep–Dec</a:t>
            </a:r>
            <a:endParaRPr lang="en-US" sz="1600" dirty="0"/>
          </a:p>
        </p:txBody>
      </p:sp>
      <p:sp>
        <p:nvSpPr>
          <p:cNvPr id="32" name="Recommendation figure 5"/>
          <p:cNvSpPr txBox="1"/>
          <p:nvPr/>
        </p:nvSpPr>
        <p:spPr>
          <a:xfrm>
            <a:off x="4539996" y="4663440"/>
            <a:ext cx="310896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51.6%</a:t>
            </a:r>
            <a:endParaRPr lang="en-US" sz="2600" dirty="0"/>
          </a:p>
        </p:txBody>
      </p:sp>
      <p:sp>
        <p:nvSpPr>
          <p:cNvPr id="33" name="Recommendation text 5"/>
          <p:cNvSpPr txBox="1"/>
          <p:nvPr/>
        </p:nvSpPr>
        <p:spPr>
          <a:xfrm>
            <a:off x="4539996" y="5193792"/>
            <a:ext cx="3108960" cy="822960"/>
          </a:xfrm>
          <a:prstGeom prst="rect">
            <a:avLst/>
          </a:prstGeom>
          <a:noFill/>
          <a:ln/>
        </p:spPr>
        <p:txBody>
          <a:bodyPr wrap="square" lIns="0" tIns="0" rIns="0" bIns="0" rtlCol="0" anchor="t"/>
          <a:lstStyle/>
          <a:p>
            <a:pPr indent="0" marL="0">
              <a:buNone/>
            </a:pPr>
            <a:r>
              <a:rPr lang="en-US" sz="1400" dirty="0">
                <a:solidFill>
                  <a:schemeClr val="tx1"/>
                </a:solidFill>
              </a:rPr>
              <a:t>Over half of sales land in four months. Plan stock and staff early, and lift slow Jan–Feb with small offers.</a:t>
            </a:r>
            <a:endParaRPr lang="en-US" sz="1400" dirty="0"/>
          </a:p>
        </p:txBody>
      </p:sp>
      <p:sp>
        <p:nvSpPr>
          <p:cNvPr id="34" name="Recommendation card 6"/>
          <p:cNvSpPr/>
          <p:nvPr/>
        </p:nvSpPr>
        <p:spPr>
          <a:xfrm>
            <a:off x="8074152" y="3931920"/>
            <a:ext cx="3566160" cy="2194560"/>
          </a:xfrm>
          <a:prstGeom prst="roundRect">
            <a:avLst>
              <a:gd name="adj" fmla="val 4167"/>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35" name="Recommendation badge 6"/>
          <p:cNvSpPr/>
          <p:nvPr/>
        </p:nvSpPr>
        <p:spPr>
          <a:xfrm>
            <a:off x="8302752" y="4133088"/>
            <a:ext cx="384048" cy="384048"/>
          </a:xfrm>
          <a:prstGeom prst="ellipse">
            <a:avLst/>
          </a:prstGeom>
          <a:solidFill>
            <a:schemeClr val="accent2"/>
          </a:solidFill>
          <a:ln/>
        </p:spPr>
      </p:sp>
      <p:sp>
        <p:nvSpPr>
          <p:cNvPr id="36" name="Recommendation number 6"/>
          <p:cNvSpPr txBox="1"/>
          <p:nvPr/>
        </p:nvSpPr>
        <p:spPr>
          <a:xfrm>
            <a:off x="8302752" y="4133088"/>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37" name="Recommendation title 6"/>
          <p:cNvSpPr txBox="1"/>
          <p:nvPr/>
        </p:nvSpPr>
        <p:spPr>
          <a:xfrm>
            <a:off x="8823960" y="4133088"/>
            <a:ext cx="2606040" cy="384048"/>
          </a:xfrm>
          <a:prstGeom prst="rect">
            <a:avLst/>
          </a:prstGeom>
          <a:noFill/>
          <a:ln/>
        </p:spPr>
        <p:txBody>
          <a:bodyPr wrap="square" lIns="0" tIns="0" rIns="0" bIns="0" rtlCol="0" anchor="ctr"/>
          <a:lstStyle/>
          <a:p>
            <a:pPr indent="0" marL="0">
              <a:buNone/>
            </a:pPr>
            <a:r>
              <a:rPr lang="en-US" sz="1600" b="1" dirty="0">
                <a:solidFill>
                  <a:schemeClr val="tx1"/>
                </a:solidFill>
              </a:rPr>
              <a:t>Back the winners</a:t>
            </a:r>
            <a:endParaRPr lang="en-US" sz="1600" dirty="0"/>
          </a:p>
        </p:txBody>
      </p:sp>
      <p:sp>
        <p:nvSpPr>
          <p:cNvPr id="38" name="Recommendation figure 6"/>
          <p:cNvSpPr txBox="1"/>
          <p:nvPr/>
        </p:nvSpPr>
        <p:spPr>
          <a:xfrm>
            <a:off x="8302752" y="4663440"/>
            <a:ext cx="310896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$56K</a:t>
            </a:r>
            <a:endParaRPr lang="en-US" sz="2600" dirty="0"/>
          </a:p>
        </p:txBody>
      </p:sp>
      <p:sp>
        <p:nvSpPr>
          <p:cNvPr id="39" name="Recommendation text 6"/>
          <p:cNvSpPr txBox="1"/>
          <p:nvPr/>
        </p:nvSpPr>
        <p:spPr>
          <a:xfrm>
            <a:off x="8302752" y="5193792"/>
            <a:ext cx="3108960" cy="822960"/>
          </a:xfrm>
          <a:prstGeom prst="rect">
            <a:avLst/>
          </a:prstGeom>
          <a:noFill/>
          <a:ln/>
        </p:spPr>
        <p:txBody>
          <a:bodyPr wrap="square" lIns="0" tIns="0" rIns="0" bIns="0" rtlCol="0" anchor="t"/>
          <a:lstStyle/>
          <a:p>
            <a:pPr indent="0" marL="0">
              <a:buNone/>
            </a:pPr>
            <a:r>
              <a:rPr lang="en-US" sz="1400" dirty="0">
                <a:solidFill>
                  <a:schemeClr val="tx1"/>
                </a:solidFill>
              </a:rPr>
              <a:t>Copiers lead profit, followed by Phones ($45K) and Accessories ($42K). Bundle and cross-sell them.</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100" b="1" spc="300" kern="0" dirty="0">
                <a:solidFill>
                  <a:schemeClr val="accent1"/>
                </a:solidFill>
              </a:rPr>
              <a:t>07  ·  CONCLUSION</a:t>
            </a:r>
            <a:endParaRPr lang="en-US" sz="1100" dirty="0"/>
          </a:p>
        </p:txBody>
      </p:sp>
      <p:sp>
        <p:nvSpPr>
          <p:cNvPr id="3"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Key takeaways and next steps</a:t>
            </a:r>
            <a:endParaRPr lang="en-US" sz="3400" dirty="0"/>
          </a:p>
        </p:txBody>
      </p:sp>
      <p:sp>
        <p:nvSpPr>
          <p:cNvPr id="4" name="Takeaways card"/>
          <p:cNvSpPr/>
          <p:nvPr/>
        </p:nvSpPr>
        <p:spPr>
          <a:xfrm>
            <a:off x="548640" y="1600200"/>
            <a:ext cx="5458968" cy="4526280"/>
          </a:xfrm>
          <a:prstGeom prst="roundRect">
            <a:avLst>
              <a:gd name="adj" fmla="val 2020"/>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5" name="Actions card"/>
          <p:cNvSpPr/>
          <p:nvPr/>
        </p:nvSpPr>
        <p:spPr>
          <a:xfrm>
            <a:off x="6181344" y="1600200"/>
            <a:ext cx="5458968" cy="4526280"/>
          </a:xfrm>
          <a:prstGeom prst="roundRect">
            <a:avLst>
              <a:gd name="adj" fmla="val 2020"/>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6" name="Takeaways heading"/>
          <p:cNvSpPr txBox="1"/>
          <p:nvPr/>
        </p:nvSpPr>
        <p:spPr>
          <a:xfrm>
            <a:off x="822960" y="1783080"/>
            <a:ext cx="493776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What the data shows</a:t>
            </a:r>
            <a:endParaRPr lang="en-US" sz="1800" dirty="0"/>
          </a:p>
        </p:txBody>
      </p:sp>
      <p:sp>
        <p:nvSpPr>
          <p:cNvPr id="7" name="Actions heading"/>
          <p:cNvSpPr txBox="1"/>
          <p:nvPr/>
        </p:nvSpPr>
        <p:spPr>
          <a:xfrm>
            <a:off x="6455664" y="1783080"/>
            <a:ext cx="493776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What we recommend</a:t>
            </a:r>
            <a:endParaRPr lang="en-US" sz="1800" dirty="0"/>
          </a:p>
        </p:txBody>
      </p:sp>
      <p:sp>
        <p:nvSpPr>
          <p:cNvPr id="8" name="Takeaway value 1"/>
          <p:cNvSpPr txBox="1"/>
          <p:nvPr/>
        </p:nvSpPr>
        <p:spPr>
          <a:xfrm>
            <a:off x="822960" y="2331720"/>
            <a:ext cx="1417320" cy="73152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94%</a:t>
            </a:r>
            <a:endParaRPr lang="en-US" sz="3000" dirty="0"/>
          </a:p>
        </p:txBody>
      </p:sp>
      <p:sp>
        <p:nvSpPr>
          <p:cNvPr id="9" name="Takeaway text 1"/>
          <p:cNvSpPr txBox="1"/>
          <p:nvPr/>
        </p:nvSpPr>
        <p:spPr>
          <a:xfrm>
            <a:off x="2286000" y="2331720"/>
            <a:ext cx="3474720" cy="731520"/>
          </a:xfrm>
          <a:prstGeom prst="rect">
            <a:avLst/>
          </a:prstGeom>
          <a:noFill/>
          <a:ln/>
        </p:spPr>
        <p:txBody>
          <a:bodyPr wrap="square" lIns="0" tIns="0" rIns="0" bIns="0" rtlCol="0" anchor="ctr"/>
          <a:lstStyle/>
          <a:p>
            <a:pPr indent="0" marL="0">
              <a:buNone/>
            </a:pPr>
            <a:r>
              <a:rPr lang="en-US" sz="1400" dirty="0">
                <a:solidFill>
                  <a:schemeClr val="tx1"/>
                </a:solidFill>
              </a:rPr>
              <a:t>of profit comes from Technology and Office Supplies</a:t>
            </a:r>
            <a:endParaRPr lang="en-US" sz="1400" dirty="0"/>
          </a:p>
        </p:txBody>
      </p:sp>
      <p:sp>
        <p:nvSpPr>
          <p:cNvPr id="10" name="Takeaway value 2"/>
          <p:cNvSpPr txBox="1"/>
          <p:nvPr/>
        </p:nvSpPr>
        <p:spPr>
          <a:xfrm>
            <a:off x="822960" y="3264408"/>
            <a:ext cx="1417320" cy="73152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2.5%</a:t>
            </a:r>
            <a:endParaRPr lang="en-US" sz="3000" dirty="0"/>
          </a:p>
        </p:txBody>
      </p:sp>
      <p:sp>
        <p:nvSpPr>
          <p:cNvPr id="11" name="Takeaway text 2"/>
          <p:cNvSpPr txBox="1"/>
          <p:nvPr/>
        </p:nvSpPr>
        <p:spPr>
          <a:xfrm>
            <a:off x="2286000" y="3264408"/>
            <a:ext cx="3474720" cy="731520"/>
          </a:xfrm>
          <a:prstGeom prst="rect">
            <a:avLst/>
          </a:prstGeom>
          <a:noFill/>
          <a:ln/>
        </p:spPr>
        <p:txBody>
          <a:bodyPr wrap="square" lIns="0" tIns="0" rIns="0" bIns="0" rtlCol="0" anchor="ctr"/>
          <a:lstStyle/>
          <a:p>
            <a:pPr indent="0" marL="0">
              <a:buNone/>
            </a:pPr>
            <a:r>
              <a:rPr lang="en-US" sz="1400" dirty="0">
                <a:solidFill>
                  <a:schemeClr val="tx1"/>
                </a:solidFill>
              </a:rPr>
              <a:t>profit margin in Furniture, against 17% in the other two</a:t>
            </a:r>
            <a:endParaRPr lang="en-US" sz="1400" dirty="0"/>
          </a:p>
        </p:txBody>
      </p:sp>
      <p:sp>
        <p:nvSpPr>
          <p:cNvPr id="12" name="Takeaway value 3"/>
          <p:cNvSpPr txBox="1"/>
          <p:nvPr/>
        </p:nvSpPr>
        <p:spPr>
          <a:xfrm>
            <a:off x="822960" y="4197096"/>
            <a:ext cx="1417320" cy="73152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70%</a:t>
            </a:r>
            <a:endParaRPr lang="en-US" sz="3000" dirty="0"/>
          </a:p>
        </p:txBody>
      </p:sp>
      <p:sp>
        <p:nvSpPr>
          <p:cNvPr id="13" name="Takeaway text 3"/>
          <p:cNvSpPr txBox="1"/>
          <p:nvPr/>
        </p:nvSpPr>
        <p:spPr>
          <a:xfrm>
            <a:off x="2286000" y="4197096"/>
            <a:ext cx="3474720" cy="731520"/>
          </a:xfrm>
          <a:prstGeom prst="rect">
            <a:avLst/>
          </a:prstGeom>
          <a:noFill/>
          <a:ln/>
        </p:spPr>
        <p:txBody>
          <a:bodyPr wrap="square" lIns="0" tIns="0" rIns="0" bIns="0" rtlCol="0" anchor="ctr"/>
          <a:lstStyle/>
          <a:p>
            <a:pPr indent="0" marL="0">
              <a:buNone/>
            </a:pPr>
            <a:r>
              <a:rPr lang="en-US" sz="1400" dirty="0">
                <a:solidFill>
                  <a:schemeClr val="tx1"/>
                </a:solidFill>
              </a:rPr>
              <a:t>of profit is earned by the West and East regions</a:t>
            </a:r>
            <a:endParaRPr lang="en-US" sz="1400" dirty="0"/>
          </a:p>
        </p:txBody>
      </p:sp>
      <p:sp>
        <p:nvSpPr>
          <p:cNvPr id="14" name="Takeaway value 4"/>
          <p:cNvSpPr txBox="1"/>
          <p:nvPr/>
        </p:nvSpPr>
        <p:spPr>
          <a:xfrm>
            <a:off x="822960" y="5129784"/>
            <a:ext cx="1417320" cy="73152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7.9%</a:t>
            </a:r>
            <a:endParaRPr lang="en-US" sz="3000" dirty="0"/>
          </a:p>
        </p:txBody>
      </p:sp>
      <p:sp>
        <p:nvSpPr>
          <p:cNvPr id="15" name="Takeaway text 4"/>
          <p:cNvSpPr txBox="1"/>
          <p:nvPr/>
        </p:nvSpPr>
        <p:spPr>
          <a:xfrm>
            <a:off x="2286000" y="5129784"/>
            <a:ext cx="3474720" cy="731520"/>
          </a:xfrm>
          <a:prstGeom prst="rect">
            <a:avLst/>
          </a:prstGeom>
          <a:noFill/>
          <a:ln/>
        </p:spPr>
        <p:txBody>
          <a:bodyPr wrap="square" lIns="0" tIns="0" rIns="0" bIns="0" rtlCol="0" anchor="ctr"/>
          <a:lstStyle/>
          <a:p>
            <a:pPr indent="0" marL="0">
              <a:buNone/>
            </a:pPr>
            <a:r>
              <a:rPr lang="en-US" sz="1400" dirty="0">
                <a:solidFill>
                  <a:schemeClr val="tx1"/>
                </a:solidFill>
              </a:rPr>
              <a:t>margin in the Central region, the lowest of the four</a:t>
            </a:r>
            <a:endParaRPr lang="en-US" sz="1400" dirty="0"/>
          </a:p>
        </p:txBody>
      </p:sp>
      <p:sp>
        <p:nvSpPr>
          <p:cNvPr id="16" name="Action badge 1"/>
          <p:cNvSpPr/>
          <p:nvPr/>
        </p:nvSpPr>
        <p:spPr>
          <a:xfrm>
            <a:off x="6455664" y="2514600"/>
            <a:ext cx="384048" cy="384048"/>
          </a:xfrm>
          <a:prstGeom prst="ellipse">
            <a:avLst/>
          </a:prstGeom>
          <a:solidFill>
            <a:schemeClr val="accent2"/>
          </a:solidFill>
          <a:ln/>
        </p:spPr>
      </p:sp>
      <p:sp>
        <p:nvSpPr>
          <p:cNvPr id="17" name="Action number 1"/>
          <p:cNvSpPr txBox="1"/>
          <p:nvPr/>
        </p:nvSpPr>
        <p:spPr>
          <a:xfrm>
            <a:off x="6455664" y="251460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8" name="Action text 1"/>
          <p:cNvSpPr txBox="1"/>
          <p:nvPr/>
        </p:nvSpPr>
        <p:spPr>
          <a:xfrm>
            <a:off x="7004304" y="2331720"/>
            <a:ext cx="4297680" cy="749808"/>
          </a:xfrm>
          <a:prstGeom prst="rect">
            <a:avLst/>
          </a:prstGeom>
          <a:noFill/>
          <a:ln/>
        </p:spPr>
        <p:txBody>
          <a:bodyPr wrap="square" lIns="0" tIns="0" rIns="0" bIns="0" rtlCol="0" anchor="ctr"/>
          <a:lstStyle/>
          <a:p>
            <a:pPr indent="0" marL="0">
              <a:buNone/>
            </a:pPr>
            <a:r>
              <a:rPr lang="en-US" sz="1500" b="1" dirty="0">
                <a:solidFill>
                  <a:schemeClr val="tx1"/>
                </a:solidFill>
              </a:rPr>
              <a:t>Cap discounts at 20%</a:t>
            </a:r>
            <a:endParaRPr lang="en-US" sz="1500" dirty="0"/>
          </a:p>
          <a:p>
            <a:pPr indent="0" marL="0">
              <a:buNone/>
            </a:pPr>
            <a:r>
              <a:rPr lang="en-US" sz="1400" dirty="0">
                <a:solidFill>
                  <a:schemeClr val="accent6"/>
                </a:solidFill>
              </a:rPr>
              <a:t>Anything higher turns an average sale into a loss.</a:t>
            </a:r>
            <a:endParaRPr lang="en-US" sz="1500" dirty="0"/>
          </a:p>
        </p:txBody>
      </p:sp>
      <p:sp>
        <p:nvSpPr>
          <p:cNvPr id="19" name="Action badge 2"/>
          <p:cNvSpPr/>
          <p:nvPr/>
        </p:nvSpPr>
        <p:spPr>
          <a:xfrm>
            <a:off x="6455664" y="3447288"/>
            <a:ext cx="384048" cy="384048"/>
          </a:xfrm>
          <a:prstGeom prst="ellipse">
            <a:avLst/>
          </a:prstGeom>
          <a:solidFill>
            <a:schemeClr val="accent2"/>
          </a:solidFill>
          <a:ln/>
        </p:spPr>
      </p:sp>
      <p:sp>
        <p:nvSpPr>
          <p:cNvPr id="20" name="Action number 2"/>
          <p:cNvSpPr txBox="1"/>
          <p:nvPr/>
        </p:nvSpPr>
        <p:spPr>
          <a:xfrm>
            <a:off x="6455664" y="3447288"/>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21" name="Action text 2"/>
          <p:cNvSpPr txBox="1"/>
          <p:nvPr/>
        </p:nvSpPr>
        <p:spPr>
          <a:xfrm>
            <a:off x="7004304" y="3264408"/>
            <a:ext cx="4297680" cy="749808"/>
          </a:xfrm>
          <a:prstGeom prst="rect">
            <a:avLst/>
          </a:prstGeom>
          <a:noFill/>
          <a:ln/>
        </p:spPr>
        <p:txBody>
          <a:bodyPr wrap="square" lIns="0" tIns="0" rIns="0" bIns="0" rtlCol="0" anchor="ctr"/>
          <a:lstStyle/>
          <a:p>
            <a:pPr indent="0" marL="0">
              <a:buNone/>
            </a:pPr>
            <a:r>
              <a:rPr lang="en-US" sz="1500" b="1" dirty="0">
                <a:solidFill>
                  <a:schemeClr val="tx1"/>
                </a:solidFill>
              </a:rPr>
              <a:t>Reprice Tables and Bookcases</a:t>
            </a:r>
            <a:endParaRPr lang="en-US" sz="1500" dirty="0"/>
          </a:p>
          <a:p>
            <a:pPr indent="0" marL="0">
              <a:buNone/>
            </a:pPr>
            <a:r>
              <a:rPr lang="en-US" sz="1400" dirty="0">
                <a:solidFill>
                  <a:schemeClr val="accent6"/>
                </a:solidFill>
              </a:rPr>
              <a:t>Review cost and pricing to stop the Furniture leak.</a:t>
            </a:r>
            <a:endParaRPr lang="en-US" sz="1500" dirty="0"/>
          </a:p>
        </p:txBody>
      </p:sp>
      <p:sp>
        <p:nvSpPr>
          <p:cNvPr id="22" name="Action badge 3"/>
          <p:cNvSpPr/>
          <p:nvPr/>
        </p:nvSpPr>
        <p:spPr>
          <a:xfrm>
            <a:off x="6455664" y="4379976"/>
            <a:ext cx="384048" cy="384048"/>
          </a:xfrm>
          <a:prstGeom prst="ellipse">
            <a:avLst/>
          </a:prstGeom>
          <a:solidFill>
            <a:schemeClr val="accent2"/>
          </a:solidFill>
          <a:ln/>
        </p:spPr>
      </p:sp>
      <p:sp>
        <p:nvSpPr>
          <p:cNvPr id="23" name="Action number 3"/>
          <p:cNvSpPr txBox="1"/>
          <p:nvPr/>
        </p:nvSpPr>
        <p:spPr>
          <a:xfrm>
            <a:off x="6455664" y="4379976"/>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4" name="Action text 3"/>
          <p:cNvSpPr txBox="1"/>
          <p:nvPr/>
        </p:nvSpPr>
        <p:spPr>
          <a:xfrm>
            <a:off x="7004304" y="4197096"/>
            <a:ext cx="4297680" cy="749808"/>
          </a:xfrm>
          <a:prstGeom prst="rect">
            <a:avLst/>
          </a:prstGeom>
          <a:noFill/>
          <a:ln/>
        </p:spPr>
        <p:txBody>
          <a:bodyPr wrap="square" lIns="0" tIns="0" rIns="0" bIns="0" rtlCol="0" anchor="ctr"/>
          <a:lstStyle/>
          <a:p>
            <a:pPr indent="0" marL="0">
              <a:buNone/>
            </a:pPr>
            <a:r>
              <a:rPr lang="en-US" sz="1500" b="1" dirty="0">
                <a:solidFill>
                  <a:schemeClr val="tx1"/>
                </a:solidFill>
              </a:rPr>
              <a:t>Fix weak states</a:t>
            </a:r>
            <a:endParaRPr lang="en-US" sz="1500" dirty="0"/>
          </a:p>
          <a:p>
            <a:pPr indent="0" marL="0">
              <a:buNone/>
            </a:pPr>
            <a:r>
              <a:rPr lang="en-US" sz="1400" dirty="0">
                <a:solidFill>
                  <a:schemeClr val="accent6"/>
                </a:solidFill>
              </a:rPr>
              <a:t>Audit Texas, Ohio, Pennsylvania and Illinois first.</a:t>
            </a:r>
            <a:endParaRPr lang="en-US" sz="1500" dirty="0"/>
          </a:p>
        </p:txBody>
      </p:sp>
      <p:sp>
        <p:nvSpPr>
          <p:cNvPr id="25" name="Action badge 4"/>
          <p:cNvSpPr/>
          <p:nvPr/>
        </p:nvSpPr>
        <p:spPr>
          <a:xfrm>
            <a:off x="6455664" y="5312664"/>
            <a:ext cx="384048" cy="384048"/>
          </a:xfrm>
          <a:prstGeom prst="ellipse">
            <a:avLst/>
          </a:prstGeom>
          <a:solidFill>
            <a:schemeClr val="accent2"/>
          </a:solidFill>
          <a:ln/>
        </p:spPr>
      </p:sp>
      <p:sp>
        <p:nvSpPr>
          <p:cNvPr id="26" name="Action number 4"/>
          <p:cNvSpPr txBox="1"/>
          <p:nvPr/>
        </p:nvSpPr>
        <p:spPr>
          <a:xfrm>
            <a:off x="6455664" y="5312664"/>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7" name="Action text 4"/>
          <p:cNvSpPr txBox="1"/>
          <p:nvPr/>
        </p:nvSpPr>
        <p:spPr>
          <a:xfrm>
            <a:off x="7004304" y="5129784"/>
            <a:ext cx="4297680" cy="749808"/>
          </a:xfrm>
          <a:prstGeom prst="rect">
            <a:avLst/>
          </a:prstGeom>
          <a:noFill/>
          <a:ln/>
        </p:spPr>
        <p:txBody>
          <a:bodyPr wrap="square" lIns="0" tIns="0" rIns="0" bIns="0" rtlCol="0" anchor="ctr"/>
          <a:lstStyle/>
          <a:p>
            <a:pPr indent="0" marL="0">
              <a:buNone/>
            </a:pPr>
            <a:r>
              <a:rPr lang="en-US" sz="1500" b="1" dirty="0">
                <a:solidFill>
                  <a:schemeClr val="tx1"/>
                </a:solidFill>
              </a:rPr>
              <a:t>Plan for Sep–Dec</a:t>
            </a:r>
            <a:endParaRPr lang="en-US" sz="1500" dirty="0"/>
          </a:p>
          <a:p>
            <a:pPr indent="0" marL="0">
              <a:buNone/>
            </a:pPr>
            <a:r>
              <a:rPr lang="en-US" sz="1400" dirty="0">
                <a:solidFill>
                  <a:schemeClr val="accent6"/>
                </a:solidFill>
              </a:rPr>
              <a:t>Build stock and staffing for the year-end peak.</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100" b="1" spc="300" kern="0" dirty="0">
                <a:solidFill>
                  <a:schemeClr val="accent1"/>
                </a:solidFill>
              </a:rPr>
              <a:t>04  ·  POWER BI  ·  INTERACTIVE DASHBOARD</a:t>
            </a:r>
            <a:endParaRPr lang="en-US" sz="1100" dirty="0"/>
          </a:p>
        </p:txBody>
      </p:sp>
      <p:sp>
        <p:nvSpPr>
          <p:cNvPr id="3" name="Text 0"/>
          <p:cNvSpPr/>
          <p:nvPr>
            <p:ph idx="100" type="title" hasCustomPrompt="1"/>
          </p:nvPr>
        </p:nvSpPr>
        <p:spPr>
          <a:xfrm>
            <a:off x="548640" y="566928"/>
            <a:ext cx="4846320" cy="731520"/>
          </a:xfrm>
          <a:prstGeom prst="rect">
            <a:avLst/>
          </a:prstGeom>
          <a:noFill/>
          <a:ln/>
        </p:spPr>
        <p:txBody>
          <a:bodyPr wrap="square" lIns="0" tIns="0" rIns="0" bIns="0" rtlCol="0" anchor="ctr"/>
          <a:lstStyle/>
          <a:p>
            <a:pPr algn="l" indent="0" marL="0">
              <a:buNone/>
            </a:pPr>
            <a:r>
              <a:rPr lang="en-US" sz="3400" b="1" dirty="0">
                <a:solidFill>
                  <a:schemeClr val="tx1"/>
                </a:solidFill>
              </a:rPr>
              <a:t>Product Analysis</a:t>
            </a:r>
            <a:endParaRPr lang="en-US" sz="3400" dirty="0"/>
          </a:p>
        </p:txBody>
      </p:sp>
      <p:sp>
        <p:nvSpPr>
          <p:cNvPr id="4" name="Tab Executive Overview">
            <a:hlinkClick r:id="rId1" tooltip="Go to Executive Overview" action="ppaction://hlinksldjump"/>
          </p:cNvPr>
          <p:cNvSpPr/>
          <p:nvPr/>
        </p:nvSpPr>
        <p:spPr>
          <a:xfrm>
            <a:off x="5559552" y="640080"/>
            <a:ext cx="1965960" cy="402336"/>
          </a:xfrm>
          <a:prstGeom prst="roundRect">
            <a:avLst>
              <a:gd name="adj" fmla="val 45455"/>
            </a:avLst>
          </a:prstGeom>
          <a:solidFill>
            <a:schemeClr val="bg1"/>
          </a:solidFill>
          <a:ln w="9525">
            <a:solidFill>
              <a:srgbClr val="DDE5E8"/>
            </a:solidFill>
            <a:prstDash val="solid"/>
          </a:ln>
        </p:spPr>
      </p:sp>
      <p:sp>
        <p:nvSpPr>
          <p:cNvPr id="5" name="Tab label Executive Overview"/>
          <p:cNvSpPr txBox="1"/>
          <p:nvPr/>
        </p:nvSpPr>
        <p:spPr>
          <a:xfrm>
            <a:off x="5559552" y="640080"/>
            <a:ext cx="1965960" cy="402336"/>
          </a:xfrm>
          <a:prstGeom prst="rect">
            <a:avLst/>
          </a:prstGeom>
          <a:noFill/>
          <a:ln/>
        </p:spPr>
        <p:txBody>
          <a:bodyPr wrap="square" lIns="0" tIns="0" rIns="0" bIns="0" rtlCol="0" anchor="ctr"/>
          <a:lstStyle/>
          <a:p>
            <a:pPr algn="ctr" indent="0" marL="0">
              <a:buNone/>
            </a:pPr>
            <a:r>
              <a:rPr lang="en-US" sz="1200" b="1" dirty="0">
                <a:solidFill>
                  <a:schemeClr val="accent1"/>
                </a:solidFill>
              </a:rPr>
              <a:t>Executive Overview</a:t>
            </a:r>
            <a:endParaRPr lang="en-US" sz="1200" dirty="0"/>
          </a:p>
        </p:txBody>
      </p:sp>
      <p:sp>
        <p:nvSpPr>
          <p:cNvPr id="6" name="Tab Product Analysis">
            <a:hlinkClick r:id="rId2" tooltip="Go to Product Analysis" action="ppaction://hlinksldjump"/>
          </p:cNvPr>
          <p:cNvSpPr/>
          <p:nvPr/>
        </p:nvSpPr>
        <p:spPr>
          <a:xfrm>
            <a:off x="7616952" y="640080"/>
            <a:ext cx="1965960" cy="402336"/>
          </a:xfrm>
          <a:prstGeom prst="roundRect">
            <a:avLst>
              <a:gd name="adj" fmla="val 45455"/>
            </a:avLst>
          </a:prstGeom>
          <a:solidFill>
            <a:schemeClr val="accent1"/>
          </a:solidFill>
          <a:ln w="9525">
            <a:solidFill>
              <a:srgbClr val="2F6F73"/>
            </a:solidFill>
            <a:prstDash val="solid"/>
          </a:ln>
        </p:spPr>
      </p:sp>
      <p:sp>
        <p:nvSpPr>
          <p:cNvPr id="7" name="Tab label Product Analysis"/>
          <p:cNvSpPr txBox="1"/>
          <p:nvPr/>
        </p:nvSpPr>
        <p:spPr>
          <a:xfrm>
            <a:off x="7616952" y="640080"/>
            <a:ext cx="1965960" cy="402336"/>
          </a:xfrm>
          <a:prstGeom prst="rect">
            <a:avLst/>
          </a:prstGeom>
          <a:noFill/>
          <a:ln/>
        </p:spPr>
        <p:txBody>
          <a:bodyPr wrap="square" lIns="0" tIns="0" rIns="0" bIns="0" rtlCol="0" anchor="ctr"/>
          <a:lstStyle/>
          <a:p>
            <a:pPr algn="ctr" indent="0" marL="0">
              <a:buNone/>
            </a:pPr>
            <a:r>
              <a:rPr lang="en-US" sz="1200" b="1" dirty="0">
                <a:solidFill>
                  <a:schemeClr val="bg1"/>
                </a:solidFill>
              </a:rPr>
              <a:t>Product Analysis</a:t>
            </a:r>
            <a:endParaRPr lang="en-US" sz="1200" dirty="0"/>
          </a:p>
        </p:txBody>
      </p:sp>
      <p:sp>
        <p:nvSpPr>
          <p:cNvPr id="8" name="Tab Customers &amp; Shipping">
            <a:hlinkClick r:id="rId3" tooltip="Go to Customers &amp; Shipping" action="ppaction://hlinksldjump"/>
          </p:cNvPr>
          <p:cNvSpPr/>
          <p:nvPr/>
        </p:nvSpPr>
        <p:spPr>
          <a:xfrm>
            <a:off x="9674352" y="640080"/>
            <a:ext cx="1965960" cy="402336"/>
          </a:xfrm>
          <a:prstGeom prst="roundRect">
            <a:avLst>
              <a:gd name="adj" fmla="val 45455"/>
            </a:avLst>
          </a:prstGeom>
          <a:solidFill>
            <a:schemeClr val="bg1"/>
          </a:solidFill>
          <a:ln w="9525">
            <a:solidFill>
              <a:srgbClr val="DDE5E8"/>
            </a:solidFill>
            <a:prstDash val="solid"/>
          </a:ln>
        </p:spPr>
      </p:sp>
      <p:sp>
        <p:nvSpPr>
          <p:cNvPr id="9" name="Tab label Customers &amp; Shipping"/>
          <p:cNvSpPr txBox="1"/>
          <p:nvPr/>
        </p:nvSpPr>
        <p:spPr>
          <a:xfrm>
            <a:off x="9674352" y="640080"/>
            <a:ext cx="1965960" cy="402336"/>
          </a:xfrm>
          <a:prstGeom prst="rect">
            <a:avLst/>
          </a:prstGeom>
          <a:noFill/>
          <a:ln/>
        </p:spPr>
        <p:txBody>
          <a:bodyPr wrap="square" lIns="0" tIns="0" rIns="0" bIns="0" rtlCol="0" anchor="ctr"/>
          <a:lstStyle/>
          <a:p>
            <a:pPr algn="ctr" indent="0" marL="0">
              <a:buNone/>
            </a:pPr>
            <a:r>
              <a:rPr lang="en-US" sz="1200" b="1" dirty="0">
                <a:solidFill>
                  <a:schemeClr val="accent1"/>
                </a:solidFill>
              </a:rPr>
              <a:t>Customers &amp; Shipping</a:t>
            </a:r>
            <a:endParaRPr lang="en-US" sz="1200" dirty="0"/>
          </a:p>
        </p:txBody>
      </p:sp>
      <p:sp>
        <p:nvSpPr>
          <p:cNvPr id="10" name="Screenshot frame"/>
          <p:cNvSpPr/>
          <p:nvPr/>
        </p:nvSpPr>
        <p:spPr>
          <a:xfrm>
            <a:off x="548640" y="1463040"/>
            <a:ext cx="7772400" cy="4435754"/>
          </a:xfrm>
          <a:prstGeom prst="roundRect">
            <a:avLst>
              <a:gd name="adj" fmla="val 1493"/>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pic>
        <p:nvPicPr>
          <p:cNvPr id="11" name="Dashboard screenshot" descr="Power BI dashboard, Product Analysis page"/>
          <p:cNvPicPr>
            <a:picLocks noChangeAspect="1"/>
          </p:cNvPicPr>
          <p:nvPr/>
        </p:nvPicPr>
        <p:blipFill>
          <a:blip r:embed="rId4"/>
          <a:stretch>
            <a:fillRect/>
          </a:stretch>
        </p:blipFill>
        <p:spPr>
          <a:xfrm>
            <a:off x="621792" y="1536192"/>
            <a:ext cx="7626096" cy="4289450"/>
          </a:xfrm>
          <a:prstGeom prst="rect">
            <a:avLst/>
          </a:prstGeom>
        </p:spPr>
      </p:pic>
      <p:sp>
        <p:nvSpPr>
          <p:cNvPr id="12" name="Observation card"/>
          <p:cNvSpPr/>
          <p:nvPr/>
        </p:nvSpPr>
        <p:spPr>
          <a:xfrm>
            <a:off x="8595360" y="1463040"/>
            <a:ext cx="3044952" cy="4435754"/>
          </a:xfrm>
          <a:prstGeom prst="roundRect">
            <a:avLst>
              <a:gd name="adj" fmla="val 3000"/>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13" name="Observation heading"/>
          <p:cNvSpPr txBox="1"/>
          <p:nvPr/>
        </p:nvSpPr>
        <p:spPr>
          <a:xfrm>
            <a:off x="8823960" y="1645920"/>
            <a:ext cx="2587752" cy="457200"/>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What we observed</a:t>
            </a:r>
            <a:endParaRPr lang="en-US" sz="1600" dirty="0"/>
          </a:p>
        </p:txBody>
      </p:sp>
      <p:sp>
        <p:nvSpPr>
          <p:cNvPr id="14" name="Observation list"/>
          <p:cNvSpPr txBox="1"/>
          <p:nvPr/>
        </p:nvSpPr>
        <p:spPr>
          <a:xfrm>
            <a:off x="8823960" y="2240280"/>
            <a:ext cx="2587752" cy="3475634"/>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chemeClr val="tx1"/>
                </a:solidFill>
              </a:rPr>
              <a:t>37,871 units sold at a 15.6% average discount</a:t>
            </a:r>
            <a:endParaRPr lang="en-US" sz="1500" dirty="0"/>
          </a:p>
          <a:p>
            <a:pPr marL="228600" indent="-228600">
              <a:spcAft>
                <a:spcPts val="1000"/>
              </a:spcAft>
              <a:buSzPct val="100000"/>
              <a:buChar char="•"/>
            </a:pPr>
            <a:r>
              <a:rPr lang="en-US" sz="1500" dirty="0">
                <a:solidFill>
                  <a:schemeClr val="tx1"/>
                </a:solidFill>
              </a:rPr>
              <a:t>Phones and Chairs lead sales at $0.33M each</a:t>
            </a:r>
            <a:endParaRPr lang="en-US" sz="1500" dirty="0"/>
          </a:p>
          <a:p>
            <a:pPr marL="228600" indent="-228600">
              <a:spcAft>
                <a:spcPts val="1000"/>
              </a:spcAft>
              <a:buSzPct val="100000"/>
              <a:buChar char="•"/>
            </a:pPr>
            <a:r>
              <a:rPr lang="en-US" sz="1500" dirty="0">
                <a:solidFill>
                  <a:schemeClr val="tx1"/>
                </a:solidFill>
              </a:rPr>
              <a:t>Profit turns negative once discounts pass 20%</a:t>
            </a:r>
            <a:endParaRPr lang="en-US" sz="1500" dirty="0"/>
          </a:p>
        </p:txBody>
      </p:sp>
      <p:sp>
        <p:nvSpPr>
          <p:cNvPr id="15" name="Slide Number Placeholder 0"/>
          <p:cNvSpPr>
            <a:spLocks noGrp="1"/>
          </p:cNvSpPr>
          <p:nvPr>
            <p:ph type="sldNum" sz="quarter" idx="4294967295"/>
          </p:nvPr>
        </p:nvSpPr>
        <p:spPr>
          <a:xfrm>
            <a:off x="11183112" y="6400800"/>
            <a:ext cx="457200" cy="274320"/>
          </a:xfrm>
          <a:prstGeom prst="rect">
            <a:avLst/>
          </a:prstGeom>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100" b="1" spc="300" kern="0" dirty="0">
                <a:solidFill>
                  <a:schemeClr val="accent1"/>
                </a:solidFill>
              </a:rPr>
              <a:t>04  ·  POWER BI  ·  INTERACTIVE DASHBOARD</a:t>
            </a:r>
            <a:endParaRPr lang="en-US" sz="1100" dirty="0"/>
          </a:p>
        </p:txBody>
      </p:sp>
      <p:sp>
        <p:nvSpPr>
          <p:cNvPr id="3" name="Text 0"/>
          <p:cNvSpPr/>
          <p:nvPr>
            <p:ph idx="100" type="title" hasCustomPrompt="1"/>
          </p:nvPr>
        </p:nvSpPr>
        <p:spPr>
          <a:xfrm>
            <a:off x="548640" y="566928"/>
            <a:ext cx="4846320" cy="731520"/>
          </a:xfrm>
          <a:prstGeom prst="rect">
            <a:avLst/>
          </a:prstGeom>
          <a:noFill/>
          <a:ln/>
        </p:spPr>
        <p:txBody>
          <a:bodyPr wrap="square" lIns="0" tIns="0" rIns="0" bIns="0" rtlCol="0" anchor="ctr"/>
          <a:lstStyle/>
          <a:p>
            <a:pPr algn="l" indent="0" marL="0">
              <a:buNone/>
            </a:pPr>
            <a:r>
              <a:rPr lang="en-US" sz="3400" b="1" dirty="0">
                <a:solidFill>
                  <a:schemeClr val="tx1"/>
                </a:solidFill>
              </a:rPr>
              <a:t>Customers &amp; Shipping</a:t>
            </a:r>
            <a:endParaRPr lang="en-US" sz="3400" dirty="0"/>
          </a:p>
        </p:txBody>
      </p:sp>
      <p:sp>
        <p:nvSpPr>
          <p:cNvPr id="4" name="Tab Executive Overview">
            <a:hlinkClick r:id="rId1" tooltip="Go to Executive Overview" action="ppaction://hlinksldjump"/>
          </p:cNvPr>
          <p:cNvSpPr/>
          <p:nvPr/>
        </p:nvSpPr>
        <p:spPr>
          <a:xfrm>
            <a:off x="5559552" y="640080"/>
            <a:ext cx="1965960" cy="402336"/>
          </a:xfrm>
          <a:prstGeom prst="roundRect">
            <a:avLst>
              <a:gd name="adj" fmla="val 45455"/>
            </a:avLst>
          </a:prstGeom>
          <a:solidFill>
            <a:schemeClr val="bg1"/>
          </a:solidFill>
          <a:ln w="9525">
            <a:solidFill>
              <a:srgbClr val="DDE5E8"/>
            </a:solidFill>
            <a:prstDash val="solid"/>
          </a:ln>
        </p:spPr>
      </p:sp>
      <p:sp>
        <p:nvSpPr>
          <p:cNvPr id="5" name="Tab label Executive Overview"/>
          <p:cNvSpPr txBox="1"/>
          <p:nvPr/>
        </p:nvSpPr>
        <p:spPr>
          <a:xfrm>
            <a:off x="5559552" y="640080"/>
            <a:ext cx="1965960" cy="402336"/>
          </a:xfrm>
          <a:prstGeom prst="rect">
            <a:avLst/>
          </a:prstGeom>
          <a:noFill/>
          <a:ln/>
        </p:spPr>
        <p:txBody>
          <a:bodyPr wrap="square" lIns="0" tIns="0" rIns="0" bIns="0" rtlCol="0" anchor="ctr"/>
          <a:lstStyle/>
          <a:p>
            <a:pPr algn="ctr" indent="0" marL="0">
              <a:buNone/>
            </a:pPr>
            <a:r>
              <a:rPr lang="en-US" sz="1200" b="1" dirty="0">
                <a:solidFill>
                  <a:schemeClr val="accent1"/>
                </a:solidFill>
              </a:rPr>
              <a:t>Executive Overview</a:t>
            </a:r>
            <a:endParaRPr lang="en-US" sz="1200" dirty="0"/>
          </a:p>
        </p:txBody>
      </p:sp>
      <p:sp>
        <p:nvSpPr>
          <p:cNvPr id="6" name="Tab Product Analysis">
            <a:hlinkClick r:id="rId2" tooltip="Go to Product Analysis" action="ppaction://hlinksldjump"/>
          </p:cNvPr>
          <p:cNvSpPr/>
          <p:nvPr/>
        </p:nvSpPr>
        <p:spPr>
          <a:xfrm>
            <a:off x="7616952" y="640080"/>
            <a:ext cx="1965960" cy="402336"/>
          </a:xfrm>
          <a:prstGeom prst="roundRect">
            <a:avLst>
              <a:gd name="adj" fmla="val 45455"/>
            </a:avLst>
          </a:prstGeom>
          <a:solidFill>
            <a:schemeClr val="bg1"/>
          </a:solidFill>
          <a:ln w="9525">
            <a:solidFill>
              <a:srgbClr val="DDE5E8"/>
            </a:solidFill>
            <a:prstDash val="solid"/>
          </a:ln>
        </p:spPr>
      </p:sp>
      <p:sp>
        <p:nvSpPr>
          <p:cNvPr id="7" name="Tab label Product Analysis"/>
          <p:cNvSpPr txBox="1"/>
          <p:nvPr/>
        </p:nvSpPr>
        <p:spPr>
          <a:xfrm>
            <a:off x="7616952" y="640080"/>
            <a:ext cx="1965960" cy="402336"/>
          </a:xfrm>
          <a:prstGeom prst="rect">
            <a:avLst/>
          </a:prstGeom>
          <a:noFill/>
          <a:ln/>
        </p:spPr>
        <p:txBody>
          <a:bodyPr wrap="square" lIns="0" tIns="0" rIns="0" bIns="0" rtlCol="0" anchor="ctr"/>
          <a:lstStyle/>
          <a:p>
            <a:pPr algn="ctr" indent="0" marL="0">
              <a:buNone/>
            </a:pPr>
            <a:r>
              <a:rPr lang="en-US" sz="1200" b="1" dirty="0">
                <a:solidFill>
                  <a:schemeClr val="accent1"/>
                </a:solidFill>
              </a:rPr>
              <a:t>Product Analysis</a:t>
            </a:r>
            <a:endParaRPr lang="en-US" sz="1200" dirty="0"/>
          </a:p>
        </p:txBody>
      </p:sp>
      <p:sp>
        <p:nvSpPr>
          <p:cNvPr id="8" name="Tab Customers &amp; Shipping">
            <a:hlinkClick r:id="rId3" tooltip="Go to Customers &amp; Shipping" action="ppaction://hlinksldjump"/>
          </p:cNvPr>
          <p:cNvSpPr/>
          <p:nvPr/>
        </p:nvSpPr>
        <p:spPr>
          <a:xfrm>
            <a:off x="9674352" y="640080"/>
            <a:ext cx="1965960" cy="402336"/>
          </a:xfrm>
          <a:prstGeom prst="roundRect">
            <a:avLst>
              <a:gd name="adj" fmla="val 45455"/>
            </a:avLst>
          </a:prstGeom>
          <a:solidFill>
            <a:schemeClr val="accent1"/>
          </a:solidFill>
          <a:ln w="9525">
            <a:solidFill>
              <a:srgbClr val="2F6F73"/>
            </a:solidFill>
            <a:prstDash val="solid"/>
          </a:ln>
        </p:spPr>
      </p:sp>
      <p:sp>
        <p:nvSpPr>
          <p:cNvPr id="9" name="Tab label Customers &amp; Shipping"/>
          <p:cNvSpPr txBox="1"/>
          <p:nvPr/>
        </p:nvSpPr>
        <p:spPr>
          <a:xfrm>
            <a:off x="9674352" y="640080"/>
            <a:ext cx="1965960" cy="402336"/>
          </a:xfrm>
          <a:prstGeom prst="rect">
            <a:avLst/>
          </a:prstGeom>
          <a:noFill/>
          <a:ln/>
        </p:spPr>
        <p:txBody>
          <a:bodyPr wrap="square" lIns="0" tIns="0" rIns="0" bIns="0" rtlCol="0" anchor="ctr"/>
          <a:lstStyle/>
          <a:p>
            <a:pPr algn="ctr" indent="0" marL="0">
              <a:buNone/>
            </a:pPr>
            <a:r>
              <a:rPr lang="en-US" sz="1200" b="1" dirty="0">
                <a:solidFill>
                  <a:schemeClr val="bg1"/>
                </a:solidFill>
              </a:rPr>
              <a:t>Customers &amp; Shipping</a:t>
            </a:r>
            <a:endParaRPr lang="en-US" sz="1200" dirty="0"/>
          </a:p>
        </p:txBody>
      </p:sp>
      <p:sp>
        <p:nvSpPr>
          <p:cNvPr id="10" name="Screenshot frame"/>
          <p:cNvSpPr/>
          <p:nvPr/>
        </p:nvSpPr>
        <p:spPr>
          <a:xfrm>
            <a:off x="548640" y="1463040"/>
            <a:ext cx="7772400" cy="4435754"/>
          </a:xfrm>
          <a:prstGeom prst="roundRect">
            <a:avLst>
              <a:gd name="adj" fmla="val 1493"/>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pic>
        <p:nvPicPr>
          <p:cNvPr id="11" name="Dashboard screenshot" descr="Power BI dashboard, Customers &amp; Shipping page"/>
          <p:cNvPicPr>
            <a:picLocks noChangeAspect="1"/>
          </p:cNvPicPr>
          <p:nvPr/>
        </p:nvPicPr>
        <p:blipFill>
          <a:blip r:embed="rId4"/>
          <a:stretch>
            <a:fillRect/>
          </a:stretch>
        </p:blipFill>
        <p:spPr>
          <a:xfrm>
            <a:off x="621792" y="1536192"/>
            <a:ext cx="7626096" cy="4289450"/>
          </a:xfrm>
          <a:prstGeom prst="rect">
            <a:avLst/>
          </a:prstGeom>
        </p:spPr>
      </p:pic>
      <p:sp>
        <p:nvSpPr>
          <p:cNvPr id="12" name="Observation card"/>
          <p:cNvSpPr/>
          <p:nvPr/>
        </p:nvSpPr>
        <p:spPr>
          <a:xfrm>
            <a:off x="8595360" y="1463040"/>
            <a:ext cx="3044952" cy="4435754"/>
          </a:xfrm>
          <a:prstGeom prst="roundRect">
            <a:avLst>
              <a:gd name="adj" fmla="val 3000"/>
            </a:avLst>
          </a:prstGeom>
          <a:solidFill>
            <a:schemeClr val="bg1"/>
          </a:solidFill>
          <a:ln w="9525">
            <a:solidFill>
              <a:srgbClr val="DDE5E8"/>
            </a:solidFill>
            <a:prstDash val="solid"/>
          </a:ln>
          <a:effectLst>
            <a:outerShdw sx="100000" sy="100000" kx="0" ky="0" algn="bl" rotWithShape="0" blurRad="127000" dist="25400" dir="5400000">
              <a:srgbClr val="1F2A37">
                <a:alpha val="8000"/>
              </a:srgbClr>
            </a:outerShdw>
          </a:effectLst>
        </p:spPr>
      </p:sp>
      <p:sp>
        <p:nvSpPr>
          <p:cNvPr id="13" name="Observation heading"/>
          <p:cNvSpPr txBox="1"/>
          <p:nvPr/>
        </p:nvSpPr>
        <p:spPr>
          <a:xfrm>
            <a:off x="8823960" y="1645920"/>
            <a:ext cx="2587752" cy="457200"/>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What we observed</a:t>
            </a:r>
            <a:endParaRPr lang="en-US" sz="1600" dirty="0"/>
          </a:p>
        </p:txBody>
      </p:sp>
      <p:sp>
        <p:nvSpPr>
          <p:cNvPr id="14" name="Observation list"/>
          <p:cNvSpPr txBox="1"/>
          <p:nvPr/>
        </p:nvSpPr>
        <p:spPr>
          <a:xfrm>
            <a:off x="8823960" y="2240280"/>
            <a:ext cx="2587752" cy="3475634"/>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chemeClr val="tx1"/>
                </a:solidFill>
              </a:rPr>
              <a:t>Average order value $458.6 and $2,896 sales per customer</a:t>
            </a:r>
            <a:endParaRPr lang="en-US" sz="1500" dirty="0"/>
          </a:p>
          <a:p>
            <a:pPr marL="228600" indent="-228600">
              <a:spcAft>
                <a:spcPts val="1000"/>
              </a:spcAft>
              <a:buSzPct val="100000"/>
              <a:buChar char="•"/>
            </a:pPr>
            <a:r>
              <a:rPr lang="en-US" sz="1500" dirty="0">
                <a:solidFill>
                  <a:schemeClr val="tx1"/>
                </a:solidFill>
              </a:rPr>
              <a:t>California ($0.46M) and New York ($0.31M) lead state sales</a:t>
            </a:r>
            <a:endParaRPr lang="en-US" sz="1500" dirty="0"/>
          </a:p>
          <a:p>
            <a:pPr marL="228600" indent="-228600">
              <a:spcAft>
                <a:spcPts val="1000"/>
              </a:spcAft>
              <a:buSzPct val="100000"/>
              <a:buChar char="•"/>
            </a:pPr>
            <a:r>
              <a:rPr lang="en-US" sz="1500" dirty="0">
                <a:solidFill>
                  <a:schemeClr val="tx1"/>
                </a:solidFill>
              </a:rPr>
              <a:t>Standard Class carries 59.77% of orders; average ship time 4.0 days</a:t>
            </a:r>
            <a:endParaRPr lang="en-US" sz="1500" dirty="0"/>
          </a:p>
        </p:txBody>
      </p:sp>
      <p:sp>
        <p:nvSpPr>
          <p:cNvPr id="15" name="Slide Number Placeholder 0"/>
          <p:cNvSpPr>
            <a:spLocks noGrp="1"/>
          </p:cNvSpPr>
          <p:nvPr>
            <p:ph type="sldNum" sz="quarter" idx="4294967295"/>
          </p:nvPr>
        </p:nvSpPr>
        <p:spPr>
          <a:xfrm>
            <a:off x="11183112" y="6400800"/>
            <a:ext cx="457200" cy="274320"/>
          </a:xfrm>
          <a:prstGeom prst="rect">
            <a:avLst/>
          </a:prstGeom>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SuperStore Light">
  <a:themeElements>
    <a:clrScheme name="SuperStore Light">
      <a:dk1>
        <a:srgbClr val="1F2A37"/>
      </a:dk1>
      <a:lt1>
        <a:srgbClr val="FFFFFF"/>
      </a:lt1>
      <a:dk2>
        <a:srgbClr val="2F6F73"/>
      </a:dk2>
      <a:lt2>
        <a:srgbClr val="F4F7F8"/>
      </a:lt2>
      <a:accent1>
        <a:srgbClr val="2F6F73"/>
      </a:accent1>
      <a:accent2>
        <a:srgbClr val="E8A33D"/>
      </a:accent2>
      <a:accent3>
        <a:srgbClr val="D9645A"/>
      </a:accent3>
      <a:accent4>
        <a:srgbClr val="8DB8B5"/>
      </a:accent4>
      <a:accent5>
        <a:srgbClr val="DCE9E8"/>
      </a:accent5>
      <a:accent6>
        <a:srgbClr val="6B7C8C"/>
      </a:accent6>
      <a:hlink>
        <a:srgbClr val="2F6F73"/>
      </a:hlink>
      <a:folHlink>
        <a:srgbClr val="6B7C8C"/>
      </a:folHlink>
    </a:clrScheme>
    <a:fontScheme name="SuperStore L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SuperStore</dc:title>
  <dc:subject>PptxGenJS Presentation</dc:subject>
  <dc:creator>SuperStore Project Team</dc:creator>
  <cp:lastModifiedBy>SuperStore Project Team</cp:lastModifiedBy>
  <cp:revision>1</cp:revision>
  <dcterms:created xsi:type="dcterms:W3CDTF">2026-10-12T09:44:30Z</dcterms:created>
  <dcterms:modified xsi:type="dcterms:W3CDTF">2026-10-12T09:44:30Z</dcterms:modified>
</cp:coreProperties>
</file>